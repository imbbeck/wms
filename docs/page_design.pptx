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7" r:id="rId9"/>
    <p:sldId id="270" r:id="rId10"/>
    <p:sldId id="271" r:id="rId11"/>
    <p:sldId id="268" r:id="rId12"/>
    <p:sldId id="272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장소(입고처/출고처/창고) 페이지" id="{432EBCA4-3F9C-42B3-B514-9AC35BFECCAE}">
          <p14:sldIdLst>
            <p14:sldId id="256"/>
            <p14:sldId id="257"/>
            <p14:sldId id="259"/>
            <p14:sldId id="260"/>
            <p14:sldId id="258"/>
            <p14:sldId id="261"/>
          </p14:sldIdLst>
        </p14:section>
        <p14:section name="물품 페이지" id="{B7833BBF-2746-4FB2-A7B9-E05039DE0FFB}">
          <p14:sldIdLst>
            <p14:sldId id="262"/>
            <p14:sldId id="267"/>
          </p14:sldIdLst>
        </p14:section>
        <p14:section name="창고 재고 페이지" id="{B7B0FB2F-4878-425F-BA34-E56822124212}">
          <p14:sldIdLst>
            <p14:sldId id="270"/>
            <p14:sldId id="271"/>
            <p14:sldId id="268"/>
            <p14:sldId id="272"/>
            <p14:sldId id="269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5A71FB-6CFC-C483-13E7-1DFCB441DFA1}" name="KH BECK" initials="KB" userId="0df33394214f2ff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1894" autoAdjust="0"/>
  </p:normalViewPr>
  <p:slideViewPr>
    <p:cSldViewPr snapToGrid="0">
      <p:cViewPr varScale="1">
        <p:scale>
          <a:sx n="131" d="100"/>
          <a:sy n="131" d="100"/>
        </p:scale>
        <p:origin x="13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 err="1"/>
              <a:t>창고별</a:t>
            </a:r>
            <a:r>
              <a:rPr lang="ko-KR" altLang="en-US" dirty="0"/>
              <a:t> 재고 상황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경찬님빤스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창고A</c:v>
                </c:pt>
                <c:pt idx="1">
                  <c:v>창고B</c:v>
                </c:pt>
                <c:pt idx="2">
                  <c:v>창고C</c:v>
                </c:pt>
                <c:pt idx="3">
                  <c:v>창고D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10-4F84-AA52-F1B9BC2FE9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내빤스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창고A</c:v>
                </c:pt>
                <c:pt idx="1">
                  <c:v>창고B</c:v>
                </c:pt>
                <c:pt idx="2">
                  <c:v>창고C</c:v>
                </c:pt>
                <c:pt idx="3">
                  <c:v>창고D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10-4F84-AA52-F1B9BC2FE9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냉장고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창고A</c:v>
                </c:pt>
                <c:pt idx="1">
                  <c:v>창고B</c:v>
                </c:pt>
                <c:pt idx="2">
                  <c:v>창고C</c:v>
                </c:pt>
                <c:pt idx="3">
                  <c:v>창고D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10-4F84-AA52-F1B9BC2FE9E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전자레인지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창고A</c:v>
                </c:pt>
                <c:pt idx="1">
                  <c:v>창고B</c:v>
                </c:pt>
                <c:pt idx="2">
                  <c:v>창고C</c:v>
                </c:pt>
                <c:pt idx="3">
                  <c:v>창고D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C10-4F84-AA52-F1B9BC2FE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7385727"/>
        <c:axId val="1086638640"/>
      </c:barChart>
      <c:catAx>
        <c:axId val="1037385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86638640"/>
        <c:crosses val="autoZero"/>
        <c:auto val="1"/>
        <c:lblAlgn val="ctr"/>
        <c:lblOffset val="100"/>
        <c:noMultiLvlLbl val="0"/>
      </c:catAx>
      <c:valAx>
        <c:axId val="108663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7385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0.09625</cdr:x>
      <cdr:y>0.5</cdr:y>
    </cdr:from>
    <cdr:to>
      <cdr:x>0.33655</cdr:x>
      <cdr:y>0.56816</cdr:y>
    </cdr:to>
    <cdr:sp macro="" textlink="">
      <cdr:nvSpPr>
        <cdr:cNvPr id="2" name="TextBox 17">
          <a:extLst xmlns:a="http://schemas.openxmlformats.org/drawingml/2006/main">
            <a:ext uri="{FF2B5EF4-FFF2-40B4-BE49-F238E27FC236}">
              <a16:creationId xmlns:a16="http://schemas.microsoft.com/office/drawing/2014/main" id="{0E701AE5-E42F-FDF4-32B5-9DA6B4AD1117}"/>
            </a:ext>
          </a:extLst>
        </cdr:cNvPr>
        <cdr:cNvSpPr txBox="1"/>
      </cdr:nvSpPr>
      <cdr:spPr>
        <a:xfrm xmlns:a="http://schemas.openxmlformats.org/drawingml/2006/main">
          <a:off x="782319" y="2709333"/>
          <a:ext cx="1953159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dirty="0">
              <a:solidFill>
                <a:srgbClr val="FF0000"/>
              </a:solidFill>
            </a:rPr>
            <a:t>490/500</a:t>
          </a:r>
          <a:endParaRPr lang="ko-KR" altLang="en-US" dirty="0">
            <a:solidFill>
              <a:srgbClr val="FF0000"/>
            </a:solidFill>
          </a:endParaRPr>
        </a:p>
      </cdr:txBody>
    </cdr:sp>
  </cdr:relSizeAnchor>
  <cdr:relSizeAnchor xmlns:cdr="http://schemas.openxmlformats.org/drawingml/2006/chartDrawing">
    <cdr:from>
      <cdr:x>0.58585</cdr:x>
      <cdr:y>0.28347</cdr:y>
    </cdr:from>
    <cdr:to>
      <cdr:x>0.82615</cdr:x>
      <cdr:y>0.35162</cdr:y>
    </cdr:to>
    <cdr:sp macro="" textlink="">
      <cdr:nvSpPr>
        <cdr:cNvPr id="3" name="TextBox 17">
          <a:extLst xmlns:a="http://schemas.openxmlformats.org/drawingml/2006/main">
            <a:ext uri="{FF2B5EF4-FFF2-40B4-BE49-F238E27FC236}">
              <a16:creationId xmlns:a16="http://schemas.microsoft.com/office/drawing/2014/main" id="{0E701AE5-E42F-FDF4-32B5-9DA6B4AD1117}"/>
            </a:ext>
          </a:extLst>
        </cdr:cNvPr>
        <cdr:cNvSpPr txBox="1"/>
      </cdr:nvSpPr>
      <cdr:spPr>
        <a:xfrm xmlns:a="http://schemas.openxmlformats.org/drawingml/2006/main">
          <a:off x="4761787" y="1536004"/>
          <a:ext cx="1953159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dirty="0">
              <a:solidFill>
                <a:srgbClr val="FF0000"/>
              </a:solidFill>
            </a:rPr>
            <a:t>490/500</a:t>
          </a:r>
          <a:endParaRPr lang="ko-KR" altLang="en-US" dirty="0">
            <a:solidFill>
              <a:srgbClr val="FF0000"/>
            </a:solidFill>
          </a:endParaRPr>
        </a:p>
      </cdr:txBody>
    </cdr:sp>
  </cdr:relSizeAnchor>
  <cdr:relSizeAnchor xmlns:cdr="http://schemas.openxmlformats.org/drawingml/2006/chartDrawing">
    <cdr:from>
      <cdr:x>0.3509</cdr:x>
      <cdr:y>0.39814</cdr:y>
    </cdr:from>
    <cdr:to>
      <cdr:x>0.5912</cdr:x>
      <cdr:y>0.4663</cdr:y>
    </cdr:to>
    <cdr:sp macro="" textlink="">
      <cdr:nvSpPr>
        <cdr:cNvPr id="4" name="TextBox 17">
          <a:extLst xmlns:a="http://schemas.openxmlformats.org/drawingml/2006/main">
            <a:ext uri="{FF2B5EF4-FFF2-40B4-BE49-F238E27FC236}">
              <a16:creationId xmlns:a16="http://schemas.microsoft.com/office/drawing/2014/main" id="{EE4460AD-CF88-1C94-AAE2-E91F0394DCC4}"/>
            </a:ext>
          </a:extLst>
        </cdr:cNvPr>
        <cdr:cNvSpPr txBox="1"/>
      </cdr:nvSpPr>
      <cdr:spPr>
        <a:xfrm xmlns:a="http://schemas.openxmlformats.org/drawingml/2006/main">
          <a:off x="2852114" y="2157390"/>
          <a:ext cx="1953159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dirty="0">
              <a:solidFill>
                <a:srgbClr val="FF0000"/>
              </a:solidFill>
            </a:rPr>
            <a:t>490/500</a:t>
          </a:r>
          <a:endParaRPr lang="ko-KR" altLang="en-US" dirty="0">
            <a:solidFill>
              <a:srgbClr val="FF0000"/>
            </a:solidFill>
          </a:endParaRPr>
        </a:p>
      </cdr:txBody>
    </cdr:sp>
  </cdr:relSizeAnchor>
  <cdr:relSizeAnchor xmlns:cdr="http://schemas.openxmlformats.org/drawingml/2006/chartDrawing">
    <cdr:from>
      <cdr:x>0.8444</cdr:x>
      <cdr:y>0.16324</cdr:y>
    </cdr:from>
    <cdr:to>
      <cdr:x>1</cdr:x>
      <cdr:y>0.21152</cdr:y>
    </cdr:to>
    <cdr:sp macro="" textlink="">
      <cdr:nvSpPr>
        <cdr:cNvPr id="5" name="TextBox 17">
          <a:extLst xmlns:a="http://schemas.openxmlformats.org/drawingml/2006/main">
            <a:ext uri="{FF2B5EF4-FFF2-40B4-BE49-F238E27FC236}">
              <a16:creationId xmlns:a16="http://schemas.microsoft.com/office/drawing/2014/main" id="{EE4460AD-CF88-1C94-AAE2-E91F0394DCC4}"/>
            </a:ext>
          </a:extLst>
        </cdr:cNvPr>
        <cdr:cNvSpPr txBox="1"/>
      </cdr:nvSpPr>
      <cdr:spPr>
        <a:xfrm xmlns:a="http://schemas.openxmlformats.org/drawingml/2006/main">
          <a:off x="6863283" y="884545"/>
          <a:ext cx="1264717" cy="2616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dirty="0">
              <a:solidFill>
                <a:srgbClr val="FF0000"/>
              </a:solidFill>
            </a:rPr>
            <a:t>490/500</a:t>
          </a:r>
          <a:endParaRPr lang="ko-KR" altLang="en-US" dirty="0">
            <a:solidFill>
              <a:srgbClr val="FF0000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D2AF0-4623-4C73-8AF0-4D5D8E5230F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D7B7F-3D44-4B36-8232-1F252297A4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371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8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- </a:t>
            </a:r>
            <a:r>
              <a:rPr lang="ko-KR" altLang="en-US" sz="18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장소간 이동소요시간 그래프 </a:t>
            </a:r>
            <a:r>
              <a:rPr lang="en-US" altLang="ko-KR" sz="18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GUI</a:t>
            </a:r>
            <a:r>
              <a:rPr lang="ko-KR" altLang="en-US" sz="18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로 표시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장소 요소에 커서 위치 시 </a:t>
            </a:r>
            <a:r>
              <a:rPr lang="ko-KR" altLang="en-US" sz="1200" dirty="0" err="1"/>
              <a:t>호버로</a:t>
            </a:r>
            <a:r>
              <a:rPr lang="ko-KR" altLang="en-US" sz="1200" dirty="0"/>
              <a:t> 그 장소를 기점으로 하는 경로와 이동시간 표시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080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장소 요소 </a:t>
            </a:r>
            <a:r>
              <a:rPr lang="ko-KR" altLang="en-US" sz="1200" dirty="0" err="1"/>
              <a:t>우클릭시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수정</a:t>
            </a:r>
            <a:r>
              <a:rPr lang="en-US" altLang="ko-KR" sz="1200" dirty="0"/>
              <a:t>’, ‘</a:t>
            </a:r>
            <a:r>
              <a:rPr lang="ko-KR" altLang="en-US" sz="1200" dirty="0"/>
              <a:t>삭제</a:t>
            </a:r>
            <a:r>
              <a:rPr lang="en-US" altLang="ko-KR" sz="1200" dirty="0"/>
              <a:t>’, ‘</a:t>
            </a:r>
            <a:r>
              <a:rPr lang="ko-KR" altLang="en-US" sz="1200" dirty="0"/>
              <a:t>그래프추가</a:t>
            </a:r>
            <a:r>
              <a:rPr lang="en-US" altLang="ko-KR" sz="1200" dirty="0"/>
              <a:t>’</a:t>
            </a:r>
            <a:r>
              <a:rPr lang="ko-KR" altLang="en-US" sz="1200" dirty="0"/>
              <a:t> 선택할 수 있는 컨텍스트 창 표시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514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장소 요소 </a:t>
            </a:r>
            <a:r>
              <a:rPr lang="ko-KR" altLang="en-US" sz="1200" dirty="0" err="1"/>
              <a:t>우클릭시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수정</a:t>
            </a:r>
            <a:r>
              <a:rPr lang="en-US" altLang="ko-KR" sz="1200" dirty="0"/>
              <a:t>’, ‘</a:t>
            </a:r>
            <a:r>
              <a:rPr lang="ko-KR" altLang="en-US" sz="1200" dirty="0"/>
              <a:t>삭제</a:t>
            </a:r>
            <a:r>
              <a:rPr lang="en-US" altLang="ko-KR" sz="1200" dirty="0"/>
              <a:t>’, ‘</a:t>
            </a:r>
            <a:r>
              <a:rPr lang="ko-KR" altLang="en-US" sz="1200" dirty="0"/>
              <a:t>그래프추가</a:t>
            </a:r>
            <a:r>
              <a:rPr lang="en-US" altLang="ko-KR" sz="1200" dirty="0"/>
              <a:t>’</a:t>
            </a:r>
            <a:r>
              <a:rPr lang="ko-KR" altLang="en-US" sz="1200" dirty="0"/>
              <a:t> 선택할 수 있는 컨텍스트 창 표시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772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이동소요시간 요소 </a:t>
            </a:r>
            <a:r>
              <a:rPr lang="ko-KR" altLang="en-US" sz="1200" dirty="0" err="1"/>
              <a:t>우클릭시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수정</a:t>
            </a:r>
            <a:r>
              <a:rPr lang="en-US" altLang="ko-KR" sz="1200" dirty="0"/>
              <a:t>’, ‘</a:t>
            </a:r>
            <a:r>
              <a:rPr lang="ko-KR" altLang="en-US" sz="1200" dirty="0"/>
              <a:t>삭제</a:t>
            </a:r>
            <a:r>
              <a:rPr lang="en-US" altLang="ko-KR" sz="1200" dirty="0"/>
              <a:t>’, ’</a:t>
            </a:r>
            <a:r>
              <a:rPr lang="ko-KR" altLang="en-US" sz="1200" dirty="0"/>
              <a:t> 선택할 수 있는 컨텍스트 창 표시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44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빈 장소 </a:t>
            </a:r>
            <a:r>
              <a:rPr lang="ko-KR" altLang="en-US" sz="1200" dirty="0" err="1"/>
              <a:t>우클릭시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새 장소</a:t>
            </a:r>
            <a:r>
              <a:rPr lang="en-US" altLang="ko-KR" sz="1200" dirty="0"/>
              <a:t>’</a:t>
            </a:r>
            <a:r>
              <a:rPr lang="ko-KR" altLang="en-US" sz="1200" dirty="0"/>
              <a:t> 선택할 수 있는 컨텍스트 창 표시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62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슬라이드 방식 </a:t>
            </a:r>
            <a:r>
              <a:rPr lang="ko-KR" altLang="en-US" sz="1200" dirty="0" err="1"/>
              <a:t>페이지네이션</a:t>
            </a:r>
            <a:r>
              <a:rPr lang="ko-KR" altLang="en-US" sz="1200" dirty="0"/>
              <a:t> </a:t>
            </a:r>
            <a:r>
              <a:rPr lang="en-US" altLang="ko-KR" sz="1200" dirty="0"/>
              <a:t>.  </a:t>
            </a:r>
            <a:r>
              <a:rPr lang="ko-KR" altLang="en-US" sz="1200" dirty="0"/>
              <a:t>다음 </a:t>
            </a:r>
            <a:r>
              <a:rPr lang="ko-KR" altLang="en-US" sz="1200" dirty="0" err="1"/>
              <a:t>선택시</a:t>
            </a:r>
            <a:r>
              <a:rPr lang="ko-KR" altLang="en-US" sz="1200" dirty="0"/>
              <a:t> 새로운 </a:t>
            </a:r>
            <a:r>
              <a:rPr lang="en-US" altLang="ko-KR" sz="1200" dirty="0"/>
              <a:t>page</a:t>
            </a:r>
            <a:r>
              <a:rPr lang="ko-KR" altLang="en-US" sz="1200" dirty="0"/>
              <a:t>로</a:t>
            </a:r>
            <a:endParaRPr lang="en-US" altLang="ko-KR" sz="1200" dirty="0"/>
          </a:p>
          <a:p>
            <a:r>
              <a:rPr lang="en-US" altLang="ko-KR" sz="1200" dirty="0"/>
              <a:t>- &lt;</a:t>
            </a:r>
            <a:r>
              <a:rPr lang="ko-KR" altLang="en-US" sz="1200" dirty="0"/>
              <a:t>새 물품</a:t>
            </a:r>
            <a:r>
              <a:rPr lang="en-US" altLang="ko-KR" sz="1200" dirty="0"/>
              <a:t>&gt;</a:t>
            </a:r>
            <a:r>
              <a:rPr lang="ko-KR" altLang="en-US" sz="1200" dirty="0"/>
              <a:t> 누르면 생성 </a:t>
            </a:r>
            <a:r>
              <a:rPr lang="ko-KR" altLang="en-US" sz="1200" dirty="0" err="1"/>
              <a:t>인풋창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팟업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포커스 된 로우 </a:t>
            </a:r>
            <a:r>
              <a:rPr lang="ko-KR" altLang="en-US" sz="1200" dirty="0" err="1"/>
              <a:t>우클릭시</a:t>
            </a:r>
            <a:r>
              <a:rPr lang="ko-KR" altLang="en-US" sz="1200" dirty="0"/>
              <a:t> 상세 페이지</a:t>
            </a:r>
            <a:r>
              <a:rPr lang="en-US" altLang="ko-KR" sz="1200" dirty="0"/>
              <a:t> </a:t>
            </a:r>
            <a:r>
              <a:rPr lang="ko-KR" altLang="en-US" sz="1200" dirty="0" err="1"/>
              <a:t>팟업</a:t>
            </a:r>
            <a:r>
              <a:rPr lang="en-US" altLang="ko-KR" sz="1200" dirty="0"/>
              <a:t>.</a:t>
            </a:r>
            <a:r>
              <a:rPr lang="ko-KR" altLang="en-US" sz="1200" dirty="0"/>
              <a:t> 거기서 수정</a:t>
            </a:r>
            <a:r>
              <a:rPr lang="en-US" altLang="ko-KR" sz="1200" dirty="0"/>
              <a:t>, </a:t>
            </a:r>
            <a:r>
              <a:rPr lang="ko-KR" altLang="en-US" sz="1200" dirty="0"/>
              <a:t>삭제 가능</a:t>
            </a:r>
            <a:r>
              <a:rPr lang="en-US" altLang="ko-KR" sz="1200" dirty="0"/>
              <a:t>. </a:t>
            </a:r>
            <a:r>
              <a:rPr lang="ko-KR" altLang="en-US" sz="1200" dirty="0"/>
              <a:t>물품 삭제</a:t>
            </a:r>
            <a:r>
              <a:rPr lang="en-US" altLang="ko-KR" sz="1200" dirty="0"/>
              <a:t>/</a:t>
            </a:r>
            <a:r>
              <a:rPr lang="ko-KR" altLang="en-US" sz="1200" dirty="0"/>
              <a:t>수정은 </a:t>
            </a:r>
            <a:r>
              <a:rPr lang="ko-KR" altLang="en-US" sz="1200" dirty="0" err="1"/>
              <a:t>존나게</a:t>
            </a:r>
            <a:r>
              <a:rPr lang="ko-KR" altLang="en-US" sz="1200" dirty="0"/>
              <a:t> 위험하기 때문에 </a:t>
            </a:r>
            <a:r>
              <a:rPr lang="ko-KR" altLang="en-US" sz="1200" dirty="0" err="1"/>
              <a:t>벌크</a:t>
            </a:r>
            <a:r>
              <a:rPr lang="ko-KR" altLang="en-US" sz="1200" dirty="0"/>
              <a:t> 삭제</a:t>
            </a:r>
            <a:r>
              <a:rPr lang="en-US" altLang="ko-KR" sz="1200" dirty="0"/>
              <a:t>/</a:t>
            </a:r>
            <a:r>
              <a:rPr lang="ko-KR" altLang="en-US" sz="1200" dirty="0"/>
              <a:t>업데이트 </a:t>
            </a:r>
            <a:r>
              <a:rPr lang="ko-KR" altLang="en-US" sz="1200" dirty="0" err="1"/>
              <a:t>노노</a:t>
            </a:r>
            <a:r>
              <a:rPr lang="ko-KR" altLang="en-US" sz="1200" dirty="0"/>
              <a:t>  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529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8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장소 페이지에 재고 정보 포함하는 방식</a:t>
            </a:r>
            <a:endParaRPr lang="en-US" altLang="ko-KR" sz="1800" dirty="0"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altLang="ko-KR" sz="18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- </a:t>
            </a:r>
            <a:r>
              <a:rPr lang="ko-KR" altLang="en-US" sz="18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이러면 장소 페이지가 일종의 대시보드 역할도 수행함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518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창고 목록 페이지</a:t>
            </a:r>
            <a:endParaRPr lang="en-US" altLang="ko-KR" sz="1200" dirty="0"/>
          </a:p>
          <a:p>
            <a:r>
              <a:rPr lang="en-US" altLang="ko-KR" dirty="0"/>
              <a:t>- </a:t>
            </a:r>
            <a:r>
              <a:rPr lang="ko-KR" altLang="en-US" dirty="0"/>
              <a:t>로우 </a:t>
            </a:r>
            <a:r>
              <a:rPr lang="ko-KR" altLang="en-US" dirty="0" err="1"/>
              <a:t>선택시</a:t>
            </a:r>
            <a:r>
              <a:rPr lang="ko-KR" altLang="en-US" dirty="0"/>
              <a:t> 특정 창고 상세 정보 </a:t>
            </a:r>
            <a:r>
              <a:rPr lang="ko-KR" altLang="en-US" dirty="0" err="1"/>
              <a:t>팟업창</a:t>
            </a:r>
            <a:r>
              <a:rPr lang="ko-KR" altLang="en-US" dirty="0"/>
              <a:t> 표시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83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특정 창고 재고 상세 정보 </a:t>
            </a:r>
            <a:r>
              <a:rPr lang="ko-KR" altLang="en-US" sz="1200" dirty="0" err="1"/>
              <a:t>팟업창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슬라이드 방식 </a:t>
            </a:r>
            <a:r>
              <a:rPr lang="ko-KR" altLang="en-US" sz="1200" dirty="0" err="1"/>
              <a:t>페이지네이션</a:t>
            </a:r>
            <a:r>
              <a:rPr lang="ko-KR" altLang="en-US" sz="1200" dirty="0"/>
              <a:t> </a:t>
            </a:r>
            <a:r>
              <a:rPr lang="en-US" altLang="ko-KR" sz="1200" dirty="0"/>
              <a:t>.  </a:t>
            </a:r>
            <a:r>
              <a:rPr lang="ko-KR" altLang="en-US" sz="1200" dirty="0"/>
              <a:t>다음 </a:t>
            </a:r>
            <a:r>
              <a:rPr lang="ko-KR" altLang="en-US" sz="1200" dirty="0" err="1"/>
              <a:t>선택시</a:t>
            </a:r>
            <a:r>
              <a:rPr lang="ko-KR" altLang="en-US" sz="1200" dirty="0"/>
              <a:t> 새로운 </a:t>
            </a:r>
            <a:r>
              <a:rPr lang="en-US" altLang="ko-KR" sz="1200" dirty="0"/>
              <a:t>page</a:t>
            </a:r>
            <a:r>
              <a:rPr lang="ko-KR" altLang="en-US" sz="1200" dirty="0"/>
              <a:t>로</a:t>
            </a:r>
            <a:endParaRPr lang="en-US" altLang="ko-KR" sz="1200" dirty="0"/>
          </a:p>
          <a:p>
            <a:r>
              <a:rPr lang="en-US" altLang="ko-KR" dirty="0"/>
              <a:t>- </a:t>
            </a:r>
            <a:r>
              <a:rPr lang="ko-KR" altLang="en-US" dirty="0"/>
              <a:t>조회만 가능함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재고는 물류이동의 결과에 의해서만 </a:t>
            </a:r>
            <a:r>
              <a:rPr lang="en-US" altLang="ko-KR" dirty="0"/>
              <a:t>cud</a:t>
            </a:r>
            <a:r>
              <a:rPr lang="ko-KR" altLang="en-US" dirty="0"/>
              <a:t>됨</a:t>
            </a:r>
            <a:r>
              <a:rPr lang="en-US" altLang="ko-KR" dirty="0"/>
              <a:t>.(</a:t>
            </a:r>
            <a:r>
              <a:rPr lang="ko-KR" altLang="en-US" dirty="0"/>
              <a:t>원래는 결산</a:t>
            </a:r>
            <a:r>
              <a:rPr lang="en-US" altLang="ko-KR" dirty="0"/>
              <a:t>/</a:t>
            </a:r>
            <a:r>
              <a:rPr lang="ko-KR" altLang="en-US" dirty="0"/>
              <a:t>감사 등의 이유로 </a:t>
            </a:r>
            <a:r>
              <a:rPr lang="en-US" altLang="ko-KR" dirty="0"/>
              <a:t>cud </a:t>
            </a:r>
            <a:r>
              <a:rPr lang="ko-KR" altLang="en-US" dirty="0"/>
              <a:t>필요하겠지만 일단은 안함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030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이런식의</a:t>
            </a:r>
            <a:r>
              <a:rPr lang="ko-KR" altLang="en-US" dirty="0"/>
              <a:t> 대시보드로 해도 되고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D7B7F-3D44-4B36-8232-1F252297A41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91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D2D6F-5373-2CBC-7C36-65FDC7911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AF02F3-FA6B-BA2F-177C-864EB76AA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AAB27-C820-2D49-83F3-31A76676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2220B-D95B-CD16-FB23-6FE63015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2D056A-E126-43AD-D8D4-8FAFC169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54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E32AA4-6388-91B3-BE65-0EB7A02CF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EFE94-5399-0D1E-4FBD-47B61FE28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46A3B-DCB6-28A5-0617-12E17359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283206-2D05-0205-3234-1AE59172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4CEE39-3514-59D5-FD86-3CFF3978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42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ABC3B-4CBC-8DC1-3458-CD50310F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29D997-AF05-89C7-C921-58D9CCEB1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217BA-7D71-2DFD-25AB-34A14DD3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8A2EFA-48B9-3373-7988-24AAD423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52665-4211-8688-7534-D015B966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71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3F086-C3CB-8AB9-C5BA-A31F0830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DEED9E-5ECE-A791-8BB9-550ADC699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026845-2DA4-5D64-2725-A40972DE2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A0E30C-4D56-9963-BAA3-209D3247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742AFF-9B1B-D7CD-C107-F836480D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3BB769-34C0-8F1B-6804-65301D77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8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AEF9E-6B95-D84F-497F-2450F133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39E79C-62CB-AF93-D977-BBA45C48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30857A-0B50-B1CE-4E57-1194ED8EA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68B09C-965A-C4E0-97F4-A884627C9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8F835E-57A6-A308-9655-EF9C9EF1D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F05229-33B2-D38A-F709-53518CA9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3DD0D3-8E3A-A33B-37AD-88506B24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584CBC-0700-CA18-28B9-B27ABECD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09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87794-1F86-79DB-C95E-67F3ABDA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B09B2B-47FC-EB99-2885-BF10C83EE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6780D6-1CB3-5BBB-D332-927A66DF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F1E12A-30AA-1A86-A7AC-E6F35FD9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1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2DBE94-878B-C8C6-87A9-2F9CFABCF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2C5709-922A-8DDF-8595-A2BE2A53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34528A-4429-F2A0-9D44-A2D497F48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7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D95C0-DA5C-D1E6-CD16-1148C7B5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2BE4C-58BF-8449-943E-2A9E302F8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040545-BDA0-D28C-A908-3A13DD0F7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704906-6BEE-F347-E49A-26167CA0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5102D8-521F-6137-EBBC-3114EF73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F7A4C7-5A56-7947-F69C-C548BC4E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441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D2998-7C6B-D0DC-0B9C-68A082A7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5FD554-76DF-24F0-DE6F-0CD9965D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6F242F-0325-75DA-E8AA-09BEB0EB7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5E8B47-75AB-D296-D5DE-9DBA1CE7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E7ED8A-598A-3121-CE8F-657471772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9CD454-9952-A9A9-083E-4B0C6782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4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C60BE-4987-DDE3-37E9-17AC7EE7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94970-5749-1D0F-452F-3CEB30307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397B4D-6B6D-9913-4824-9C14FFFE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9F283-D4CB-6DA8-937D-AEE31F1C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2E1561-8D64-59B7-68ED-42AADEAD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69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179C1C-D52D-2FE8-0F90-21F866F1D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D3C973-2A01-FF19-30E9-C9008C51F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3F96C3-EF00-4782-AD7E-7494D333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9B084B-F58F-D338-76A4-7FBDDEB3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4FB6CE-D94D-590A-4ED8-A88FF17E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23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1569C5-0F59-4F12-6981-C991517C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D50DF9-C84C-BE9C-E4DD-DE9D501AC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CDDDD3-5D67-14DE-879A-F5B5F5720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FFB94-CB84-4B7C-BEE8-899D5F86B48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DC9C6-042E-B7E0-A900-ECD1740F8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D9800-34A6-FA31-C8DF-4F091ABEC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E58D6-9806-49EC-9A74-6CA1FCBC7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60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stockphoto.com/kr/%EB%B2%A1%ED%84%B0/%ED%8A%B8%EB%9F%AD-%EA%B0%9C%EC%9A%94-%EC%95%84%EC%9D%B4%EC%BD%98%EC%9E%85%EB%8B%88%EB%8B%A4-%EB%B0%B0%EB%8B%AC-%EA%B8%B0%ED%98%B8%EC%9E%85%EB%8B%88%EB%8B%A4-%ED%9D%B0%EC%83%89-%EB%B0%B0%EA%B2%BD%EC%97%90-%EA%B2%A9%EB%A6%AC%EB%90%9C-%ED%94%BD%ED%86%A0%EA%B7%B8%EB%9E%A8-gm1464735999-497345422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www.shutterstock.com/ko/search/%EC%B0%BD%EA%B3%A0-%ED%94%BD%ED%86%A0%EA%B7%B8%EB%9E%A8" TargetMode="External"/><Relationship Id="rId9" Type="http://schemas.openxmlformats.org/officeDocument/2006/relationships/hyperlink" Target="https://svgsilh.com/image/23231.html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stockphoto.com/kr/%EB%B2%A1%ED%84%B0/%ED%8A%B8%EB%9F%AD-%EA%B0%9C%EC%9A%94-%EC%95%84%EC%9D%B4%EC%BD%98%EC%9E%85%EB%8B%88%EB%8B%A4-%EB%B0%B0%EB%8B%AC-%EA%B8%B0%ED%98%B8%EC%9E%85%EB%8B%88%EB%8B%A4-%ED%9D%B0%EC%83%89-%EB%B0%B0%EA%B2%BD%EC%97%90-%EA%B2%A9%EB%A6%AC%EB%90%9C-%ED%94%BD%ED%86%A0%EA%B7%B8%EB%9E%A8-gm1464735999-497345422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www.shutterstock.com/ko/search/%EC%B0%BD%EA%B3%A0-%ED%94%BD%ED%86%A0%EA%B7%B8%EB%9E%A8" TargetMode="External"/><Relationship Id="rId9" Type="http://schemas.openxmlformats.org/officeDocument/2006/relationships/hyperlink" Target="https://svgsilh.com/image/23231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stockphoto.com/kr/%EB%B2%A1%ED%84%B0/%ED%8A%B8%EB%9F%AD-%EA%B0%9C%EC%9A%94-%EC%95%84%EC%9D%B4%EC%BD%98%EC%9E%85%EB%8B%88%EB%8B%A4-%EB%B0%B0%EB%8B%AC-%EA%B8%B0%ED%98%B8%EC%9E%85%EB%8B%88%EB%8B%A4-%ED%9D%B0%EC%83%89-%EB%B0%B0%EA%B2%BD%EC%97%90-%EA%B2%A9%EB%A6%AC%EB%90%9C-%ED%94%BD%ED%86%A0%EA%B7%B8%EB%9E%A8-gm1464735999-497345422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www.shutterstock.com/ko/search/%EC%B0%BD%EA%B3%A0-%ED%94%BD%ED%86%A0%EA%B7%B8%EB%9E%A8" TargetMode="External"/><Relationship Id="rId9" Type="http://schemas.openxmlformats.org/officeDocument/2006/relationships/hyperlink" Target="https://svgsilh.com/image/23231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stockphoto.com/kr/%EB%B2%A1%ED%84%B0/%ED%8A%B8%EB%9F%AD-%EA%B0%9C%EC%9A%94-%EC%95%84%EC%9D%B4%EC%BD%98%EC%9E%85%EB%8B%88%EB%8B%A4-%EB%B0%B0%EB%8B%AC-%EA%B8%B0%ED%98%B8%EC%9E%85%EB%8B%88%EB%8B%A4-%ED%9D%B0%EC%83%89-%EB%B0%B0%EA%B2%BD%EC%97%90-%EA%B2%A9%EB%A6%AC%EB%90%9C-%ED%94%BD%ED%86%A0%EA%B7%B8%EB%9E%A8-gm1464735999-497345422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www.shutterstock.com/ko/search/%EC%B0%BD%EA%B3%A0-%ED%94%BD%ED%86%A0%EA%B7%B8%EB%9E%A8" TargetMode="External"/><Relationship Id="rId9" Type="http://schemas.openxmlformats.org/officeDocument/2006/relationships/hyperlink" Target="https://svgsilh.com/image/23231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stockphoto.com/kr/%EB%B2%A1%ED%84%B0/%ED%8A%B8%EB%9F%AD-%EA%B0%9C%EC%9A%94-%EC%95%84%EC%9D%B4%EC%BD%98%EC%9E%85%EB%8B%88%EB%8B%A4-%EB%B0%B0%EB%8B%AC-%EA%B8%B0%ED%98%B8%EC%9E%85%EB%8B%88%EB%8B%A4-%ED%9D%B0%EC%83%89-%EB%B0%B0%EA%B2%BD%EC%97%90-%EA%B2%A9%EB%A6%AC%EB%90%9C-%ED%94%BD%ED%86%A0%EA%B7%B8%EB%9E%A8-gm1464735999-497345422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www.shutterstock.com/ko/search/%EC%B0%BD%EA%B3%A0-%ED%94%BD%ED%86%A0%EA%B7%B8%EB%9E%A8" TargetMode="External"/><Relationship Id="rId9" Type="http://schemas.openxmlformats.org/officeDocument/2006/relationships/hyperlink" Target="https://svgsilh.com/image/23231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s://svgsilh.com/image/23231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www.shutterstock.com/ko/search/%EC%B0%BD%EA%B3%A0-%ED%94%BD%ED%86%A0%EA%B7%B8%EB%9E%A8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B9281E61-5F31-AF5E-3B12-EF3F4C7C3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366776"/>
            <a:ext cx="1498115" cy="1613354"/>
          </a:xfrm>
          <a:prstGeom prst="rect">
            <a:avLst/>
          </a:prstGeom>
        </p:spPr>
      </p:pic>
      <p:pic>
        <p:nvPicPr>
          <p:cNvPr id="6" name="그림 5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7079A7EC-49E9-6BBB-8C64-F1FF09074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70017" y="2622323"/>
            <a:ext cx="1498115" cy="1613354"/>
          </a:xfrm>
          <a:prstGeom prst="rect">
            <a:avLst/>
          </a:prstGeom>
        </p:spPr>
      </p:pic>
      <p:pic>
        <p:nvPicPr>
          <p:cNvPr id="7" name="그림 6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C9B96B84-EF63-5730-386F-52BB239C5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4799412"/>
            <a:ext cx="1498115" cy="1613354"/>
          </a:xfrm>
          <a:prstGeom prst="rect">
            <a:avLst/>
          </a:prstGeom>
        </p:spPr>
      </p:pic>
      <p:pic>
        <p:nvPicPr>
          <p:cNvPr id="13" name="그림 12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2C16B926-0BEB-8AD9-79D1-BF7BC8A1D5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1814996"/>
            <a:ext cx="1331976" cy="1331976"/>
          </a:xfrm>
          <a:prstGeom prst="rect">
            <a:avLst/>
          </a:prstGeom>
        </p:spPr>
      </p:pic>
      <p:pic>
        <p:nvPicPr>
          <p:cNvPr id="14" name="그림 13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30D59F2-54E3-B356-8AB9-5F6FCFA9FC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3992085"/>
            <a:ext cx="1331976" cy="1331976"/>
          </a:xfrm>
          <a:prstGeom prst="rect">
            <a:avLst/>
          </a:prstGeom>
        </p:spPr>
      </p:pic>
      <p:pic>
        <p:nvPicPr>
          <p:cNvPr id="15" name="그림 14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A9D65AAD-EAF8-A58B-06F1-33DAEA33D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06518" y="540706"/>
            <a:ext cx="1331976" cy="1331976"/>
          </a:xfrm>
          <a:prstGeom prst="rect">
            <a:avLst/>
          </a:prstGeom>
        </p:spPr>
      </p:pic>
      <p:pic>
        <p:nvPicPr>
          <p:cNvPr id="16" name="그림 15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FEB1AC1-DBE8-37A2-4F7E-104B6CB87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2612074"/>
            <a:ext cx="1331976" cy="1331976"/>
          </a:xfrm>
          <a:prstGeom prst="rect">
            <a:avLst/>
          </a:prstGeom>
        </p:spPr>
      </p:pic>
      <p:pic>
        <p:nvPicPr>
          <p:cNvPr id="17" name="그림 16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09528736-4A32-815C-4A59-5A13041D3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4884316"/>
            <a:ext cx="1331976" cy="1331976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01F374E-3D07-2271-EDD7-434C7A6B69B6}"/>
              </a:ext>
            </a:extLst>
          </p:cNvPr>
          <p:cNvCxnSpPr>
            <a:stCxn id="13" idx="3"/>
            <a:endCxn id="5" idx="1"/>
          </p:cNvCxnSpPr>
          <p:nvPr/>
        </p:nvCxnSpPr>
        <p:spPr>
          <a:xfrm flipV="1">
            <a:off x="2358954" y="1173453"/>
            <a:ext cx="1912948" cy="1307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287E01-59F1-DA46-1A57-F9FB05866467}"/>
              </a:ext>
            </a:extLst>
          </p:cNvPr>
          <p:cNvCxnSpPr>
            <a:cxnSpLocks/>
            <a:stCxn id="13" idx="3"/>
            <a:endCxn id="6" idx="1"/>
          </p:cNvCxnSpPr>
          <p:nvPr/>
        </p:nvCxnSpPr>
        <p:spPr>
          <a:xfrm>
            <a:off x="2358954" y="2480984"/>
            <a:ext cx="3411063" cy="9480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F784062-24F7-950D-1146-15645F0A81C3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2358954" y="2480984"/>
            <a:ext cx="1912948" cy="3125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BE9EF97-2E17-8F24-0992-47701ABB7B8D}"/>
              </a:ext>
            </a:extLst>
          </p:cNvPr>
          <p:cNvSpPr txBox="1"/>
          <p:nvPr/>
        </p:nvSpPr>
        <p:spPr>
          <a:xfrm>
            <a:off x="2721527" y="161079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r>
              <a:rPr lang="ko-KR" altLang="en-US" dirty="0"/>
              <a:t>시간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71CA4F-D656-E8D3-75F9-404E8690B8F1}"/>
              </a:ext>
            </a:extLst>
          </p:cNvPr>
          <p:cNvSpPr txBox="1"/>
          <p:nvPr/>
        </p:nvSpPr>
        <p:spPr>
          <a:xfrm>
            <a:off x="3554130" y="2729234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시간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2AAE30-2E4E-35CA-8C61-B57EB2BEE82B}"/>
              </a:ext>
            </a:extLst>
          </p:cNvPr>
          <p:cNvSpPr txBox="1"/>
          <p:nvPr/>
        </p:nvSpPr>
        <p:spPr>
          <a:xfrm>
            <a:off x="3028903" y="422143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시간</a:t>
            </a: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5EA0A8D-09D4-2ABB-B81E-6F7E1539E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451046" y="2431399"/>
            <a:ext cx="758753" cy="75875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1DB362E-0487-BCB2-F8BE-6633B00A0CD4}"/>
              </a:ext>
            </a:extLst>
          </p:cNvPr>
          <p:cNvSpPr txBox="1"/>
          <p:nvPr/>
        </p:nvSpPr>
        <p:spPr>
          <a:xfrm>
            <a:off x="1358680" y="1749572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853F85-93A1-7650-C5B1-521A84CBB189}"/>
              </a:ext>
            </a:extLst>
          </p:cNvPr>
          <p:cNvSpPr txBox="1"/>
          <p:nvPr/>
        </p:nvSpPr>
        <p:spPr>
          <a:xfrm>
            <a:off x="1378654" y="391215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98AA37-8E67-59A3-D78F-45871560EC5D}"/>
              </a:ext>
            </a:extLst>
          </p:cNvPr>
          <p:cNvSpPr txBox="1"/>
          <p:nvPr/>
        </p:nvSpPr>
        <p:spPr>
          <a:xfrm>
            <a:off x="4695215" y="52066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E95C45-F619-C8FE-DA2B-7EB49CAB1788}"/>
              </a:ext>
            </a:extLst>
          </p:cNvPr>
          <p:cNvSpPr txBox="1"/>
          <p:nvPr/>
        </p:nvSpPr>
        <p:spPr>
          <a:xfrm>
            <a:off x="6293278" y="272923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BD282D-AF3D-3B04-DA11-F9D864E9B178}"/>
              </a:ext>
            </a:extLst>
          </p:cNvPr>
          <p:cNvSpPr txBox="1"/>
          <p:nvPr/>
        </p:nvSpPr>
        <p:spPr>
          <a:xfrm>
            <a:off x="4755957" y="4849197"/>
            <a:ext cx="651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C</a:t>
            </a:r>
          </a:p>
          <a:p>
            <a:endParaRPr lang="ko-KR" alt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625D94-DF8C-96DD-8EE6-DF2268202E23}"/>
              </a:ext>
            </a:extLst>
          </p:cNvPr>
          <p:cNvSpPr txBox="1"/>
          <p:nvPr/>
        </p:nvSpPr>
        <p:spPr>
          <a:xfrm>
            <a:off x="8729831" y="615947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4025C1-7748-79CD-1472-272B08EB6825}"/>
              </a:ext>
            </a:extLst>
          </p:cNvPr>
          <p:cNvSpPr txBox="1"/>
          <p:nvPr/>
        </p:nvSpPr>
        <p:spPr>
          <a:xfrm>
            <a:off x="8729830" y="248896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13C067-8F4F-E830-DD24-55EE25DB719F}"/>
              </a:ext>
            </a:extLst>
          </p:cNvPr>
          <p:cNvSpPr txBox="1"/>
          <p:nvPr/>
        </p:nvSpPr>
        <p:spPr>
          <a:xfrm>
            <a:off x="8658645" y="477520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58637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B9281E61-5F31-AF5E-3B12-EF3F4C7C3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366776"/>
            <a:ext cx="1498115" cy="1613354"/>
          </a:xfrm>
          <a:prstGeom prst="rect">
            <a:avLst/>
          </a:prstGeom>
        </p:spPr>
      </p:pic>
      <p:pic>
        <p:nvPicPr>
          <p:cNvPr id="6" name="그림 5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7079A7EC-49E9-6BBB-8C64-F1FF09074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70017" y="2622323"/>
            <a:ext cx="1498115" cy="1613354"/>
          </a:xfrm>
          <a:prstGeom prst="rect">
            <a:avLst/>
          </a:prstGeom>
        </p:spPr>
      </p:pic>
      <p:pic>
        <p:nvPicPr>
          <p:cNvPr id="7" name="그림 6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C9B96B84-EF63-5730-386F-52BB239C5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4799412"/>
            <a:ext cx="1498115" cy="1613354"/>
          </a:xfrm>
          <a:prstGeom prst="rect">
            <a:avLst/>
          </a:prstGeom>
        </p:spPr>
      </p:pic>
      <p:pic>
        <p:nvPicPr>
          <p:cNvPr id="13" name="그림 12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2C16B926-0BEB-8AD9-79D1-BF7BC8A1D5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1814996"/>
            <a:ext cx="1331976" cy="1331976"/>
          </a:xfrm>
          <a:prstGeom prst="rect">
            <a:avLst/>
          </a:prstGeom>
        </p:spPr>
      </p:pic>
      <p:pic>
        <p:nvPicPr>
          <p:cNvPr id="14" name="그림 13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30D59F2-54E3-B356-8AB9-5F6FCFA9FC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3992085"/>
            <a:ext cx="1331976" cy="1331976"/>
          </a:xfrm>
          <a:prstGeom prst="rect">
            <a:avLst/>
          </a:prstGeom>
        </p:spPr>
      </p:pic>
      <p:pic>
        <p:nvPicPr>
          <p:cNvPr id="15" name="그림 14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A9D65AAD-EAF8-A58B-06F1-33DAEA33D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06518" y="540706"/>
            <a:ext cx="1331976" cy="1331976"/>
          </a:xfrm>
          <a:prstGeom prst="rect">
            <a:avLst/>
          </a:prstGeom>
        </p:spPr>
      </p:pic>
      <p:pic>
        <p:nvPicPr>
          <p:cNvPr id="16" name="그림 15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FEB1AC1-DBE8-37A2-4F7E-104B6CB87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2612074"/>
            <a:ext cx="1331976" cy="1331976"/>
          </a:xfrm>
          <a:prstGeom prst="rect">
            <a:avLst/>
          </a:prstGeom>
        </p:spPr>
      </p:pic>
      <p:pic>
        <p:nvPicPr>
          <p:cNvPr id="17" name="그림 16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09528736-4A32-815C-4A59-5A13041D3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4884316"/>
            <a:ext cx="1331976" cy="1331976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01F374E-3D07-2271-EDD7-434C7A6B69B6}"/>
              </a:ext>
            </a:extLst>
          </p:cNvPr>
          <p:cNvCxnSpPr>
            <a:cxnSpLocks/>
            <a:stCxn id="60" idx="0"/>
          </p:cNvCxnSpPr>
          <p:nvPr/>
        </p:nvCxnSpPr>
        <p:spPr>
          <a:xfrm flipH="1" flipV="1">
            <a:off x="4989443" y="1608693"/>
            <a:ext cx="92258" cy="3240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287E01-59F1-DA46-1A57-F9FB05866467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 flipV="1">
            <a:off x="2358954" y="1173453"/>
            <a:ext cx="1912948" cy="1307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F784062-24F7-950D-1146-15645F0A81C3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5770017" y="1173453"/>
            <a:ext cx="2536501" cy="33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BE9EF97-2E17-8F24-0992-47701ABB7B8D}"/>
              </a:ext>
            </a:extLst>
          </p:cNvPr>
          <p:cNvSpPr txBox="1"/>
          <p:nvPr/>
        </p:nvSpPr>
        <p:spPr>
          <a:xfrm>
            <a:off x="4695215" y="314155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시간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71CA4F-D656-E8D3-75F9-404E8690B8F1}"/>
              </a:ext>
            </a:extLst>
          </p:cNvPr>
          <p:cNvSpPr txBox="1"/>
          <p:nvPr/>
        </p:nvSpPr>
        <p:spPr>
          <a:xfrm>
            <a:off x="3015204" y="169056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시간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2AAE30-2E4E-35CA-8C61-B57EB2BEE82B}"/>
              </a:ext>
            </a:extLst>
          </p:cNvPr>
          <p:cNvSpPr txBox="1"/>
          <p:nvPr/>
        </p:nvSpPr>
        <p:spPr>
          <a:xfrm>
            <a:off x="6784491" y="102202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시간</a:t>
            </a: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5EA0A8D-09D4-2ABB-B81E-6F7E1539E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845125" y="1056243"/>
            <a:ext cx="758753" cy="75875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1DB362E-0487-BCB2-F8BE-6633B00A0CD4}"/>
              </a:ext>
            </a:extLst>
          </p:cNvPr>
          <p:cNvSpPr txBox="1"/>
          <p:nvPr/>
        </p:nvSpPr>
        <p:spPr>
          <a:xfrm>
            <a:off x="1358680" y="1749572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853F85-93A1-7650-C5B1-521A84CBB189}"/>
              </a:ext>
            </a:extLst>
          </p:cNvPr>
          <p:cNvSpPr txBox="1"/>
          <p:nvPr/>
        </p:nvSpPr>
        <p:spPr>
          <a:xfrm>
            <a:off x="1378654" y="391215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98AA37-8E67-59A3-D78F-45871560EC5D}"/>
              </a:ext>
            </a:extLst>
          </p:cNvPr>
          <p:cNvSpPr txBox="1"/>
          <p:nvPr/>
        </p:nvSpPr>
        <p:spPr>
          <a:xfrm>
            <a:off x="4695215" y="52066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E95C45-F619-C8FE-DA2B-7EB49CAB1788}"/>
              </a:ext>
            </a:extLst>
          </p:cNvPr>
          <p:cNvSpPr txBox="1"/>
          <p:nvPr/>
        </p:nvSpPr>
        <p:spPr>
          <a:xfrm>
            <a:off x="6293278" y="272923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BD282D-AF3D-3B04-DA11-F9D864E9B178}"/>
              </a:ext>
            </a:extLst>
          </p:cNvPr>
          <p:cNvSpPr txBox="1"/>
          <p:nvPr/>
        </p:nvSpPr>
        <p:spPr>
          <a:xfrm>
            <a:off x="4755957" y="4849197"/>
            <a:ext cx="651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C</a:t>
            </a:r>
          </a:p>
          <a:p>
            <a:endParaRPr lang="ko-KR" alt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625D94-DF8C-96DD-8EE6-DF2268202E23}"/>
              </a:ext>
            </a:extLst>
          </p:cNvPr>
          <p:cNvSpPr txBox="1"/>
          <p:nvPr/>
        </p:nvSpPr>
        <p:spPr>
          <a:xfrm>
            <a:off x="8729831" y="615947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4025C1-7748-79CD-1472-272B08EB6825}"/>
              </a:ext>
            </a:extLst>
          </p:cNvPr>
          <p:cNvSpPr txBox="1"/>
          <p:nvPr/>
        </p:nvSpPr>
        <p:spPr>
          <a:xfrm>
            <a:off x="8729830" y="248896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13C067-8F4F-E830-DD24-55EE25DB719F}"/>
              </a:ext>
            </a:extLst>
          </p:cNvPr>
          <p:cNvSpPr txBox="1"/>
          <p:nvPr/>
        </p:nvSpPr>
        <p:spPr>
          <a:xfrm>
            <a:off x="8658645" y="477520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8DDAB6-C4D3-845B-B25A-FF86E228B1E0}"/>
              </a:ext>
            </a:extLst>
          </p:cNvPr>
          <p:cNvSpPr txBox="1"/>
          <p:nvPr/>
        </p:nvSpPr>
        <p:spPr>
          <a:xfrm>
            <a:off x="5390252" y="1403116"/>
            <a:ext cx="1450004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상세</a:t>
            </a:r>
            <a:endParaRPr lang="en-US" altLang="ko-KR" dirty="0"/>
          </a:p>
          <a:p>
            <a:r>
              <a:rPr lang="ko-KR" altLang="en-US" dirty="0"/>
              <a:t>삭제</a:t>
            </a:r>
            <a:endParaRPr lang="en-US" altLang="ko-KR" dirty="0"/>
          </a:p>
          <a:p>
            <a:r>
              <a:rPr lang="ko-KR" altLang="en-US" dirty="0"/>
              <a:t>그래프추가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FBB0C-410B-96FE-0AD0-61436EB0B1B8}"/>
              </a:ext>
            </a:extLst>
          </p:cNvPr>
          <p:cNvSpPr txBox="1"/>
          <p:nvPr/>
        </p:nvSpPr>
        <p:spPr>
          <a:xfrm>
            <a:off x="6096000" y="1438548"/>
            <a:ext cx="3925824" cy="2462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상세 </a:t>
            </a:r>
            <a:r>
              <a:rPr lang="ko-KR" altLang="en-US" sz="1000" dirty="0" err="1"/>
              <a:t>선택시</a:t>
            </a:r>
            <a:r>
              <a:rPr lang="ko-KR" altLang="en-US" sz="1000" dirty="0"/>
              <a:t> 상세페이지 </a:t>
            </a:r>
            <a:r>
              <a:rPr lang="ko-KR" altLang="en-US" sz="1000" dirty="0" err="1"/>
              <a:t>팟업</a:t>
            </a:r>
            <a:r>
              <a:rPr lang="en-US" altLang="ko-KR" sz="1000" dirty="0"/>
              <a:t>, </a:t>
            </a:r>
            <a:r>
              <a:rPr lang="ko-KR" altLang="en-US" sz="1000" dirty="0"/>
              <a:t>상세페이지 내에서 정보 수정가능</a:t>
            </a:r>
            <a:endParaRPr lang="en-US" altLang="ko-KR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BC0E5D-CAF3-5AC5-9570-89ED8A0C9658}"/>
              </a:ext>
            </a:extLst>
          </p:cNvPr>
          <p:cNvSpPr txBox="1"/>
          <p:nvPr/>
        </p:nvSpPr>
        <p:spPr>
          <a:xfrm>
            <a:off x="6713642" y="2021137"/>
            <a:ext cx="1945003" cy="10156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그래프추가 </a:t>
            </a:r>
            <a:r>
              <a:rPr lang="ko-KR" altLang="en-US" sz="1000" dirty="0" err="1"/>
              <a:t>선택시</a:t>
            </a:r>
            <a:r>
              <a:rPr lang="ko-KR" altLang="en-US" sz="1000" dirty="0"/>
              <a:t> 선택된 요소부터 시작하는 선 </a:t>
            </a:r>
            <a:r>
              <a:rPr lang="ko-KR" altLang="en-US" sz="1000" dirty="0" err="1"/>
              <a:t>그려짐</a:t>
            </a:r>
            <a:r>
              <a:rPr lang="en-US" altLang="ko-KR" sz="1000" dirty="0"/>
              <a:t>. </a:t>
            </a:r>
            <a:r>
              <a:rPr lang="ko-KR" altLang="en-US" sz="1000" dirty="0"/>
              <a:t>그 선의 끝을 다른 요소에 가져다 대고 나서 클릭하면 시작요소</a:t>
            </a:r>
            <a:r>
              <a:rPr lang="en-US" altLang="ko-KR" sz="1000" dirty="0"/>
              <a:t>-</a:t>
            </a:r>
            <a:r>
              <a:rPr lang="ko-KR" altLang="en-US" sz="1000" dirty="0" err="1"/>
              <a:t>끝요소</a:t>
            </a:r>
            <a:r>
              <a:rPr lang="ko-KR" altLang="en-US" sz="1000" dirty="0"/>
              <a:t> 간 이동소요시간 입력할 수 있음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414520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B9281E61-5F31-AF5E-3B12-EF3F4C7C3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366776"/>
            <a:ext cx="1498115" cy="1613354"/>
          </a:xfrm>
          <a:prstGeom prst="rect">
            <a:avLst/>
          </a:prstGeom>
        </p:spPr>
      </p:pic>
      <p:pic>
        <p:nvPicPr>
          <p:cNvPr id="6" name="그림 5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7079A7EC-49E9-6BBB-8C64-F1FF09074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70017" y="2622323"/>
            <a:ext cx="1498115" cy="1613354"/>
          </a:xfrm>
          <a:prstGeom prst="rect">
            <a:avLst/>
          </a:prstGeom>
        </p:spPr>
      </p:pic>
      <p:pic>
        <p:nvPicPr>
          <p:cNvPr id="7" name="그림 6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C9B96B84-EF63-5730-386F-52BB239C5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4799412"/>
            <a:ext cx="1498115" cy="1613354"/>
          </a:xfrm>
          <a:prstGeom prst="rect">
            <a:avLst/>
          </a:prstGeom>
        </p:spPr>
      </p:pic>
      <p:pic>
        <p:nvPicPr>
          <p:cNvPr id="13" name="그림 12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2C16B926-0BEB-8AD9-79D1-BF7BC8A1D5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1814996"/>
            <a:ext cx="1331976" cy="1331976"/>
          </a:xfrm>
          <a:prstGeom prst="rect">
            <a:avLst/>
          </a:prstGeom>
        </p:spPr>
      </p:pic>
      <p:pic>
        <p:nvPicPr>
          <p:cNvPr id="14" name="그림 13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30D59F2-54E3-B356-8AB9-5F6FCFA9FC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3992085"/>
            <a:ext cx="1331976" cy="1331976"/>
          </a:xfrm>
          <a:prstGeom prst="rect">
            <a:avLst/>
          </a:prstGeom>
        </p:spPr>
      </p:pic>
      <p:pic>
        <p:nvPicPr>
          <p:cNvPr id="15" name="그림 14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A9D65AAD-EAF8-A58B-06F1-33DAEA33D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06518" y="540706"/>
            <a:ext cx="1331976" cy="1331976"/>
          </a:xfrm>
          <a:prstGeom prst="rect">
            <a:avLst/>
          </a:prstGeom>
        </p:spPr>
      </p:pic>
      <p:pic>
        <p:nvPicPr>
          <p:cNvPr id="16" name="그림 15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FEB1AC1-DBE8-37A2-4F7E-104B6CB87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2612074"/>
            <a:ext cx="1331976" cy="1331976"/>
          </a:xfrm>
          <a:prstGeom prst="rect">
            <a:avLst/>
          </a:prstGeom>
        </p:spPr>
      </p:pic>
      <p:pic>
        <p:nvPicPr>
          <p:cNvPr id="17" name="그림 16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09528736-4A32-815C-4A59-5A13041D3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4884316"/>
            <a:ext cx="1331976" cy="1331976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01F374E-3D07-2271-EDD7-434C7A6B69B6}"/>
              </a:ext>
            </a:extLst>
          </p:cNvPr>
          <p:cNvCxnSpPr>
            <a:cxnSpLocks/>
            <a:stCxn id="60" idx="0"/>
          </p:cNvCxnSpPr>
          <p:nvPr/>
        </p:nvCxnSpPr>
        <p:spPr>
          <a:xfrm flipH="1" flipV="1">
            <a:off x="4989443" y="1608693"/>
            <a:ext cx="92258" cy="3240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287E01-59F1-DA46-1A57-F9FB05866467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 flipV="1">
            <a:off x="2358954" y="1173453"/>
            <a:ext cx="1912948" cy="1307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F784062-24F7-950D-1146-15645F0A81C3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5770017" y="1173453"/>
            <a:ext cx="2536501" cy="33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BE9EF97-2E17-8F24-0992-47701ABB7B8D}"/>
              </a:ext>
            </a:extLst>
          </p:cNvPr>
          <p:cNvSpPr txBox="1"/>
          <p:nvPr/>
        </p:nvSpPr>
        <p:spPr>
          <a:xfrm>
            <a:off x="4695215" y="314155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시간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71CA4F-D656-E8D3-75F9-404E8690B8F1}"/>
              </a:ext>
            </a:extLst>
          </p:cNvPr>
          <p:cNvSpPr txBox="1"/>
          <p:nvPr/>
        </p:nvSpPr>
        <p:spPr>
          <a:xfrm>
            <a:off x="3015204" y="169056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시간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2AAE30-2E4E-35CA-8C61-B57EB2BEE82B}"/>
              </a:ext>
            </a:extLst>
          </p:cNvPr>
          <p:cNvSpPr txBox="1"/>
          <p:nvPr/>
        </p:nvSpPr>
        <p:spPr>
          <a:xfrm>
            <a:off x="6784491" y="102202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시간</a:t>
            </a: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5EA0A8D-09D4-2ABB-B81E-6F7E1539E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364286" y="2641856"/>
            <a:ext cx="758753" cy="75875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1DB362E-0487-BCB2-F8BE-6633B00A0CD4}"/>
              </a:ext>
            </a:extLst>
          </p:cNvPr>
          <p:cNvSpPr txBox="1"/>
          <p:nvPr/>
        </p:nvSpPr>
        <p:spPr>
          <a:xfrm>
            <a:off x="1358680" y="1749572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853F85-93A1-7650-C5B1-521A84CBB189}"/>
              </a:ext>
            </a:extLst>
          </p:cNvPr>
          <p:cNvSpPr txBox="1"/>
          <p:nvPr/>
        </p:nvSpPr>
        <p:spPr>
          <a:xfrm>
            <a:off x="1378654" y="391215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98AA37-8E67-59A3-D78F-45871560EC5D}"/>
              </a:ext>
            </a:extLst>
          </p:cNvPr>
          <p:cNvSpPr txBox="1"/>
          <p:nvPr/>
        </p:nvSpPr>
        <p:spPr>
          <a:xfrm>
            <a:off x="4695215" y="52066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E95C45-F619-C8FE-DA2B-7EB49CAB1788}"/>
              </a:ext>
            </a:extLst>
          </p:cNvPr>
          <p:cNvSpPr txBox="1"/>
          <p:nvPr/>
        </p:nvSpPr>
        <p:spPr>
          <a:xfrm>
            <a:off x="6293278" y="272923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BD282D-AF3D-3B04-DA11-F9D864E9B178}"/>
              </a:ext>
            </a:extLst>
          </p:cNvPr>
          <p:cNvSpPr txBox="1"/>
          <p:nvPr/>
        </p:nvSpPr>
        <p:spPr>
          <a:xfrm>
            <a:off x="4755957" y="4849197"/>
            <a:ext cx="651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C</a:t>
            </a:r>
          </a:p>
          <a:p>
            <a:endParaRPr lang="ko-KR" alt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625D94-DF8C-96DD-8EE6-DF2268202E23}"/>
              </a:ext>
            </a:extLst>
          </p:cNvPr>
          <p:cNvSpPr txBox="1"/>
          <p:nvPr/>
        </p:nvSpPr>
        <p:spPr>
          <a:xfrm>
            <a:off x="8729831" y="615947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4025C1-7748-79CD-1472-272B08EB6825}"/>
              </a:ext>
            </a:extLst>
          </p:cNvPr>
          <p:cNvSpPr txBox="1"/>
          <p:nvPr/>
        </p:nvSpPr>
        <p:spPr>
          <a:xfrm>
            <a:off x="8729830" y="248896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13C067-8F4F-E830-DD24-55EE25DB719F}"/>
              </a:ext>
            </a:extLst>
          </p:cNvPr>
          <p:cNvSpPr txBox="1"/>
          <p:nvPr/>
        </p:nvSpPr>
        <p:spPr>
          <a:xfrm>
            <a:off x="8658645" y="477520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8537327-4946-73DD-AC45-A82390F96CEF}"/>
              </a:ext>
            </a:extLst>
          </p:cNvPr>
          <p:cNvCxnSpPr>
            <a:cxnSpLocks/>
          </p:cNvCxnSpPr>
          <p:nvPr/>
        </p:nvCxnSpPr>
        <p:spPr>
          <a:xfrm>
            <a:off x="4989443" y="1608693"/>
            <a:ext cx="2568017" cy="9869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4235453-315C-6A08-9222-0DE67132BB38}"/>
              </a:ext>
            </a:extLst>
          </p:cNvPr>
          <p:cNvSpPr txBox="1"/>
          <p:nvPr/>
        </p:nvSpPr>
        <p:spPr>
          <a:xfrm>
            <a:off x="6713642" y="2021137"/>
            <a:ext cx="1945003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그래프추가 </a:t>
            </a:r>
            <a:r>
              <a:rPr lang="ko-KR" altLang="en-US" sz="1000" dirty="0" err="1"/>
              <a:t>선택시</a:t>
            </a:r>
            <a:r>
              <a:rPr lang="en-US" altLang="ko-KR" sz="1000" dirty="0"/>
              <a:t>,</a:t>
            </a:r>
            <a:r>
              <a:rPr lang="ko-KR" altLang="en-US" sz="1000" dirty="0"/>
              <a:t> 마우스 위치로 선 따라옴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E444C8-20B5-5614-6214-4340E4F77AE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989443" y="1608693"/>
            <a:ext cx="3233465" cy="3941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그래픽 19">
            <a:extLst>
              <a:ext uri="{FF2B5EF4-FFF2-40B4-BE49-F238E27FC236}">
                <a16:creationId xmlns:a16="http://schemas.microsoft.com/office/drawing/2014/main" id="{5188CF21-B68D-954E-C8A6-9AD2E4D5C1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968076" y="5512298"/>
            <a:ext cx="758753" cy="7587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3B580C-D096-C2CB-BE79-29E932EF36BF}"/>
              </a:ext>
            </a:extLst>
          </p:cNvPr>
          <p:cNvSpPr txBox="1"/>
          <p:nvPr/>
        </p:nvSpPr>
        <p:spPr>
          <a:xfrm>
            <a:off x="7428004" y="5150194"/>
            <a:ext cx="1945003" cy="55399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장소 요소에 커서 위치하고 클릭하면 이동소요시간 </a:t>
            </a:r>
            <a:r>
              <a:rPr lang="ko-KR" altLang="en-US" sz="1000" dirty="0" err="1"/>
              <a:t>입력할수</a:t>
            </a:r>
            <a:r>
              <a:rPr lang="ko-KR" altLang="en-US" sz="1000" dirty="0"/>
              <a:t> 있음</a:t>
            </a:r>
            <a:endParaRPr lang="en-US" altLang="ko-KR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08CFE6-EFAB-AFC3-2CD0-8110C0D86ED9}"/>
              </a:ext>
            </a:extLst>
          </p:cNvPr>
          <p:cNvSpPr txBox="1"/>
          <p:nvPr/>
        </p:nvSpPr>
        <p:spPr>
          <a:xfrm>
            <a:off x="7110301" y="4262388"/>
            <a:ext cx="85459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|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750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B9281E61-5F31-AF5E-3B12-EF3F4C7C3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366776"/>
            <a:ext cx="1498115" cy="1613354"/>
          </a:xfrm>
          <a:prstGeom prst="rect">
            <a:avLst/>
          </a:prstGeom>
        </p:spPr>
      </p:pic>
      <p:pic>
        <p:nvPicPr>
          <p:cNvPr id="6" name="그림 5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7079A7EC-49E9-6BBB-8C64-F1FF09074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70017" y="2622323"/>
            <a:ext cx="1498115" cy="1613354"/>
          </a:xfrm>
          <a:prstGeom prst="rect">
            <a:avLst/>
          </a:prstGeom>
        </p:spPr>
      </p:pic>
      <p:pic>
        <p:nvPicPr>
          <p:cNvPr id="7" name="그림 6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C9B96B84-EF63-5730-386F-52BB239C5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4799412"/>
            <a:ext cx="1498115" cy="1613354"/>
          </a:xfrm>
          <a:prstGeom prst="rect">
            <a:avLst/>
          </a:prstGeom>
        </p:spPr>
      </p:pic>
      <p:pic>
        <p:nvPicPr>
          <p:cNvPr id="13" name="그림 12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2C16B926-0BEB-8AD9-79D1-BF7BC8A1D5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1814996"/>
            <a:ext cx="1331976" cy="1331976"/>
          </a:xfrm>
          <a:prstGeom prst="rect">
            <a:avLst/>
          </a:prstGeom>
        </p:spPr>
      </p:pic>
      <p:pic>
        <p:nvPicPr>
          <p:cNvPr id="14" name="그림 13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30D59F2-54E3-B356-8AB9-5F6FCFA9FC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3992085"/>
            <a:ext cx="1331976" cy="1331976"/>
          </a:xfrm>
          <a:prstGeom prst="rect">
            <a:avLst/>
          </a:prstGeom>
        </p:spPr>
      </p:pic>
      <p:pic>
        <p:nvPicPr>
          <p:cNvPr id="15" name="그림 14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A9D65AAD-EAF8-A58B-06F1-33DAEA33D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06518" y="540706"/>
            <a:ext cx="1331976" cy="1331976"/>
          </a:xfrm>
          <a:prstGeom prst="rect">
            <a:avLst/>
          </a:prstGeom>
        </p:spPr>
      </p:pic>
      <p:pic>
        <p:nvPicPr>
          <p:cNvPr id="16" name="그림 15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FEB1AC1-DBE8-37A2-4F7E-104B6CB87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2612074"/>
            <a:ext cx="1331976" cy="1331976"/>
          </a:xfrm>
          <a:prstGeom prst="rect">
            <a:avLst/>
          </a:prstGeom>
        </p:spPr>
      </p:pic>
      <p:pic>
        <p:nvPicPr>
          <p:cNvPr id="17" name="그림 16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09528736-4A32-815C-4A59-5A13041D3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4884316"/>
            <a:ext cx="1331976" cy="1331976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01F374E-3D07-2271-EDD7-434C7A6B69B6}"/>
              </a:ext>
            </a:extLst>
          </p:cNvPr>
          <p:cNvCxnSpPr>
            <a:cxnSpLocks/>
            <a:stCxn id="60" idx="0"/>
          </p:cNvCxnSpPr>
          <p:nvPr/>
        </p:nvCxnSpPr>
        <p:spPr>
          <a:xfrm flipH="1" flipV="1">
            <a:off x="4989443" y="1608693"/>
            <a:ext cx="92258" cy="3240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287E01-59F1-DA46-1A57-F9FB05866467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 flipV="1">
            <a:off x="2358954" y="1173453"/>
            <a:ext cx="1912948" cy="1307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F784062-24F7-950D-1146-15645F0A81C3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5770017" y="1173453"/>
            <a:ext cx="2536501" cy="33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BE9EF97-2E17-8F24-0992-47701ABB7B8D}"/>
              </a:ext>
            </a:extLst>
          </p:cNvPr>
          <p:cNvSpPr txBox="1"/>
          <p:nvPr/>
        </p:nvSpPr>
        <p:spPr>
          <a:xfrm>
            <a:off x="4695215" y="314155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시간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71CA4F-D656-E8D3-75F9-404E8690B8F1}"/>
              </a:ext>
            </a:extLst>
          </p:cNvPr>
          <p:cNvSpPr txBox="1"/>
          <p:nvPr/>
        </p:nvSpPr>
        <p:spPr>
          <a:xfrm>
            <a:off x="3015204" y="169056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시간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2AAE30-2E4E-35CA-8C61-B57EB2BEE82B}"/>
              </a:ext>
            </a:extLst>
          </p:cNvPr>
          <p:cNvSpPr txBox="1"/>
          <p:nvPr/>
        </p:nvSpPr>
        <p:spPr>
          <a:xfrm>
            <a:off x="6784491" y="102202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시간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DB362E-0487-BCB2-F8BE-6633B00A0CD4}"/>
              </a:ext>
            </a:extLst>
          </p:cNvPr>
          <p:cNvSpPr txBox="1"/>
          <p:nvPr/>
        </p:nvSpPr>
        <p:spPr>
          <a:xfrm>
            <a:off x="1358680" y="1749572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853F85-93A1-7650-C5B1-521A84CBB189}"/>
              </a:ext>
            </a:extLst>
          </p:cNvPr>
          <p:cNvSpPr txBox="1"/>
          <p:nvPr/>
        </p:nvSpPr>
        <p:spPr>
          <a:xfrm>
            <a:off x="1378654" y="391215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98AA37-8E67-59A3-D78F-45871560EC5D}"/>
              </a:ext>
            </a:extLst>
          </p:cNvPr>
          <p:cNvSpPr txBox="1"/>
          <p:nvPr/>
        </p:nvSpPr>
        <p:spPr>
          <a:xfrm>
            <a:off x="4695215" y="52066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E95C45-F619-C8FE-DA2B-7EB49CAB1788}"/>
              </a:ext>
            </a:extLst>
          </p:cNvPr>
          <p:cNvSpPr txBox="1"/>
          <p:nvPr/>
        </p:nvSpPr>
        <p:spPr>
          <a:xfrm>
            <a:off x="6293278" y="272923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BD282D-AF3D-3B04-DA11-F9D864E9B178}"/>
              </a:ext>
            </a:extLst>
          </p:cNvPr>
          <p:cNvSpPr txBox="1"/>
          <p:nvPr/>
        </p:nvSpPr>
        <p:spPr>
          <a:xfrm>
            <a:off x="4755957" y="4849197"/>
            <a:ext cx="651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C</a:t>
            </a:r>
          </a:p>
          <a:p>
            <a:endParaRPr lang="ko-KR" alt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625D94-DF8C-96DD-8EE6-DF2268202E23}"/>
              </a:ext>
            </a:extLst>
          </p:cNvPr>
          <p:cNvSpPr txBox="1"/>
          <p:nvPr/>
        </p:nvSpPr>
        <p:spPr>
          <a:xfrm>
            <a:off x="8729831" y="615947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4025C1-7748-79CD-1472-272B08EB6825}"/>
              </a:ext>
            </a:extLst>
          </p:cNvPr>
          <p:cNvSpPr txBox="1"/>
          <p:nvPr/>
        </p:nvSpPr>
        <p:spPr>
          <a:xfrm>
            <a:off x="8729830" y="248896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13C067-8F4F-E830-DD24-55EE25DB719F}"/>
              </a:ext>
            </a:extLst>
          </p:cNvPr>
          <p:cNvSpPr txBox="1"/>
          <p:nvPr/>
        </p:nvSpPr>
        <p:spPr>
          <a:xfrm>
            <a:off x="8658645" y="477520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E444C8-20B5-5614-6214-4340E4F77AE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989443" y="1608693"/>
            <a:ext cx="3233465" cy="3941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그래픽 19">
            <a:extLst>
              <a:ext uri="{FF2B5EF4-FFF2-40B4-BE49-F238E27FC236}">
                <a16:creationId xmlns:a16="http://schemas.microsoft.com/office/drawing/2014/main" id="{5188CF21-B68D-954E-C8A6-9AD2E4D5C1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405199" y="4290499"/>
            <a:ext cx="758753" cy="7587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4E435F-7476-F902-FF0C-926A7EA0AA64}"/>
              </a:ext>
            </a:extLst>
          </p:cNvPr>
          <p:cNvSpPr txBox="1"/>
          <p:nvPr/>
        </p:nvSpPr>
        <p:spPr>
          <a:xfrm>
            <a:off x="6972550" y="410891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시간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8143C-F4C1-E76B-BE30-6A8978AF45E8}"/>
              </a:ext>
            </a:extLst>
          </p:cNvPr>
          <p:cNvSpPr txBox="1"/>
          <p:nvPr/>
        </p:nvSpPr>
        <p:spPr>
          <a:xfrm>
            <a:off x="7896940" y="4155077"/>
            <a:ext cx="1075566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수정</a:t>
            </a:r>
            <a:endParaRPr lang="en-US" altLang="ko-KR" dirty="0"/>
          </a:p>
          <a:p>
            <a:r>
              <a:rPr lang="ko-KR" altLang="en-US" dirty="0"/>
              <a:t>삭제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E2419-C50F-C3EC-FB64-FD11CEABC330}"/>
              </a:ext>
            </a:extLst>
          </p:cNvPr>
          <p:cNvSpPr txBox="1"/>
          <p:nvPr/>
        </p:nvSpPr>
        <p:spPr>
          <a:xfrm>
            <a:off x="8582382" y="4232021"/>
            <a:ext cx="3553535" cy="2462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수정 </a:t>
            </a:r>
            <a:r>
              <a:rPr lang="ko-KR" altLang="en-US" sz="1000" dirty="0" err="1"/>
              <a:t>선택시</a:t>
            </a:r>
            <a:r>
              <a:rPr lang="ko-KR" altLang="en-US" sz="1000" dirty="0"/>
              <a:t> 이동소요시간 요소 수정가능한 상태로</a:t>
            </a:r>
            <a:endParaRPr lang="en-US" altLang="ko-KR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75AA5-4AB8-2AB4-0297-DC9BCC053D1A}"/>
              </a:ext>
            </a:extLst>
          </p:cNvPr>
          <p:cNvSpPr txBox="1"/>
          <p:nvPr/>
        </p:nvSpPr>
        <p:spPr>
          <a:xfrm>
            <a:off x="8582381" y="4553191"/>
            <a:ext cx="3553535" cy="2462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삭제 </a:t>
            </a:r>
            <a:r>
              <a:rPr lang="ko-KR" altLang="en-US" sz="1000" dirty="0" err="1"/>
              <a:t>선택시</a:t>
            </a:r>
            <a:r>
              <a:rPr lang="ko-KR" altLang="en-US" sz="1000" dirty="0"/>
              <a:t> 그래프 삭제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42337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B9281E61-5F31-AF5E-3B12-EF3F4C7C3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366776"/>
            <a:ext cx="1498115" cy="1613354"/>
          </a:xfrm>
          <a:prstGeom prst="rect">
            <a:avLst/>
          </a:prstGeom>
        </p:spPr>
      </p:pic>
      <p:pic>
        <p:nvPicPr>
          <p:cNvPr id="6" name="그림 5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7079A7EC-49E9-6BBB-8C64-F1FF09074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70017" y="2622323"/>
            <a:ext cx="1498115" cy="1613354"/>
          </a:xfrm>
          <a:prstGeom prst="rect">
            <a:avLst/>
          </a:prstGeom>
        </p:spPr>
      </p:pic>
      <p:pic>
        <p:nvPicPr>
          <p:cNvPr id="7" name="그림 6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C9B96B84-EF63-5730-386F-52BB239C5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71902" y="4799412"/>
            <a:ext cx="1498115" cy="1613354"/>
          </a:xfrm>
          <a:prstGeom prst="rect">
            <a:avLst/>
          </a:prstGeom>
        </p:spPr>
      </p:pic>
      <p:pic>
        <p:nvPicPr>
          <p:cNvPr id="13" name="그림 12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2C16B926-0BEB-8AD9-79D1-BF7BC8A1D5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1814996"/>
            <a:ext cx="1331976" cy="1331976"/>
          </a:xfrm>
          <a:prstGeom prst="rect">
            <a:avLst/>
          </a:prstGeom>
        </p:spPr>
      </p:pic>
      <p:pic>
        <p:nvPicPr>
          <p:cNvPr id="14" name="그림 13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30D59F2-54E3-B356-8AB9-5F6FCFA9FC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26978" y="3992085"/>
            <a:ext cx="1331976" cy="1331976"/>
          </a:xfrm>
          <a:prstGeom prst="rect">
            <a:avLst/>
          </a:prstGeom>
        </p:spPr>
      </p:pic>
      <p:pic>
        <p:nvPicPr>
          <p:cNvPr id="15" name="그림 14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A9D65AAD-EAF8-A58B-06F1-33DAEA33D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06518" y="540706"/>
            <a:ext cx="1331976" cy="1331976"/>
          </a:xfrm>
          <a:prstGeom prst="rect">
            <a:avLst/>
          </a:prstGeom>
        </p:spPr>
      </p:pic>
      <p:pic>
        <p:nvPicPr>
          <p:cNvPr id="16" name="그림 15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FEB1AC1-DBE8-37A2-4F7E-104B6CB87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2612074"/>
            <a:ext cx="1331976" cy="1331976"/>
          </a:xfrm>
          <a:prstGeom prst="rect">
            <a:avLst/>
          </a:prstGeom>
        </p:spPr>
      </p:pic>
      <p:pic>
        <p:nvPicPr>
          <p:cNvPr id="17" name="그림 16" descr="스케치, 클립아트, 디자인이(가) 표시된 사진&#10;&#10;자동 생성된 설명">
            <a:extLst>
              <a:ext uri="{FF2B5EF4-FFF2-40B4-BE49-F238E27FC236}">
                <a16:creationId xmlns:a16="http://schemas.microsoft.com/office/drawing/2014/main" id="{09528736-4A32-815C-4A59-5A13041D3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2908" y="4884316"/>
            <a:ext cx="1331976" cy="1331976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01F374E-3D07-2271-EDD7-434C7A6B69B6}"/>
              </a:ext>
            </a:extLst>
          </p:cNvPr>
          <p:cNvCxnSpPr>
            <a:cxnSpLocks/>
            <a:stCxn id="60" idx="0"/>
          </p:cNvCxnSpPr>
          <p:nvPr/>
        </p:nvCxnSpPr>
        <p:spPr>
          <a:xfrm flipH="1" flipV="1">
            <a:off x="4989443" y="1608693"/>
            <a:ext cx="92258" cy="3240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287E01-59F1-DA46-1A57-F9FB05866467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 flipV="1">
            <a:off x="2358954" y="1173453"/>
            <a:ext cx="1912948" cy="1307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F784062-24F7-950D-1146-15645F0A81C3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5770017" y="1173453"/>
            <a:ext cx="2536501" cy="33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BE9EF97-2E17-8F24-0992-47701ABB7B8D}"/>
              </a:ext>
            </a:extLst>
          </p:cNvPr>
          <p:cNvSpPr txBox="1"/>
          <p:nvPr/>
        </p:nvSpPr>
        <p:spPr>
          <a:xfrm>
            <a:off x="4695215" y="3141551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시간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71CA4F-D656-E8D3-75F9-404E8690B8F1}"/>
              </a:ext>
            </a:extLst>
          </p:cNvPr>
          <p:cNvSpPr txBox="1"/>
          <p:nvPr/>
        </p:nvSpPr>
        <p:spPr>
          <a:xfrm>
            <a:off x="3015204" y="169056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시간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2AAE30-2E4E-35CA-8C61-B57EB2BEE82B}"/>
              </a:ext>
            </a:extLst>
          </p:cNvPr>
          <p:cNvSpPr txBox="1"/>
          <p:nvPr/>
        </p:nvSpPr>
        <p:spPr>
          <a:xfrm>
            <a:off x="6784491" y="102202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시간</a:t>
            </a:r>
          </a:p>
        </p:txBody>
      </p: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5EA0A8D-09D4-2ABB-B81E-6F7E1539E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248146" y="3131506"/>
            <a:ext cx="758753" cy="75875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1DB362E-0487-BCB2-F8BE-6633B00A0CD4}"/>
              </a:ext>
            </a:extLst>
          </p:cNvPr>
          <p:cNvSpPr txBox="1"/>
          <p:nvPr/>
        </p:nvSpPr>
        <p:spPr>
          <a:xfrm>
            <a:off x="1358680" y="1749572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853F85-93A1-7650-C5B1-521A84CBB189}"/>
              </a:ext>
            </a:extLst>
          </p:cNvPr>
          <p:cNvSpPr txBox="1"/>
          <p:nvPr/>
        </p:nvSpPr>
        <p:spPr>
          <a:xfrm>
            <a:off x="1378654" y="391215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입고처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98AA37-8E67-59A3-D78F-45871560EC5D}"/>
              </a:ext>
            </a:extLst>
          </p:cNvPr>
          <p:cNvSpPr txBox="1"/>
          <p:nvPr/>
        </p:nvSpPr>
        <p:spPr>
          <a:xfrm>
            <a:off x="4695215" y="52066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E95C45-F619-C8FE-DA2B-7EB49CAB1788}"/>
              </a:ext>
            </a:extLst>
          </p:cNvPr>
          <p:cNvSpPr txBox="1"/>
          <p:nvPr/>
        </p:nvSpPr>
        <p:spPr>
          <a:xfrm>
            <a:off x="6293278" y="2729234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BD282D-AF3D-3B04-DA11-F9D864E9B178}"/>
              </a:ext>
            </a:extLst>
          </p:cNvPr>
          <p:cNvSpPr txBox="1"/>
          <p:nvPr/>
        </p:nvSpPr>
        <p:spPr>
          <a:xfrm>
            <a:off x="4755957" y="4849197"/>
            <a:ext cx="651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C</a:t>
            </a:r>
          </a:p>
          <a:p>
            <a:endParaRPr lang="ko-KR" alt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625D94-DF8C-96DD-8EE6-DF2268202E23}"/>
              </a:ext>
            </a:extLst>
          </p:cNvPr>
          <p:cNvSpPr txBox="1"/>
          <p:nvPr/>
        </p:nvSpPr>
        <p:spPr>
          <a:xfrm>
            <a:off x="8729831" y="615947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4025C1-7748-79CD-1472-272B08EB6825}"/>
              </a:ext>
            </a:extLst>
          </p:cNvPr>
          <p:cNvSpPr txBox="1"/>
          <p:nvPr/>
        </p:nvSpPr>
        <p:spPr>
          <a:xfrm>
            <a:off x="8729830" y="248896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13C067-8F4F-E830-DD24-55EE25DB719F}"/>
              </a:ext>
            </a:extLst>
          </p:cNvPr>
          <p:cNvSpPr txBox="1"/>
          <p:nvPr/>
        </p:nvSpPr>
        <p:spPr>
          <a:xfrm>
            <a:off x="8658645" y="4775203"/>
            <a:ext cx="9906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ko-KR" altLang="en-US" sz="1000" dirty="0"/>
              <a:t>출고처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8DDAB6-C4D3-845B-B25A-FF86E228B1E0}"/>
              </a:ext>
            </a:extLst>
          </p:cNvPr>
          <p:cNvSpPr txBox="1"/>
          <p:nvPr/>
        </p:nvSpPr>
        <p:spPr>
          <a:xfrm>
            <a:off x="3739675" y="3586167"/>
            <a:ext cx="107556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새 장소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3C0CDB-17AA-2B11-B88F-72187AD7C877}"/>
              </a:ext>
            </a:extLst>
          </p:cNvPr>
          <p:cNvSpPr txBox="1"/>
          <p:nvPr/>
        </p:nvSpPr>
        <p:spPr>
          <a:xfrm>
            <a:off x="4674018" y="3767148"/>
            <a:ext cx="1945003" cy="2462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`</a:t>
            </a:r>
            <a:r>
              <a:rPr lang="ko-KR" altLang="en-US" sz="1000" dirty="0"/>
              <a:t>새 장소</a:t>
            </a:r>
            <a:r>
              <a:rPr lang="en-US" altLang="ko-KR" sz="1000" dirty="0"/>
              <a:t>`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선택시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입력창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팟업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749327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A9040-ABB6-114A-8444-DBA9FC05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069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api</a:t>
            </a:r>
            <a:r>
              <a:rPr lang="en-US" altLang="ko-KR" dirty="0"/>
              <a:t> list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0283F6-6EA4-21C4-4DEE-0492C6029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498"/>
            <a:ext cx="10515600" cy="5167465"/>
          </a:xfrm>
        </p:spPr>
        <p:txBody>
          <a:bodyPr/>
          <a:lstStyle/>
          <a:p>
            <a:r>
              <a:rPr lang="ko-KR" altLang="en-US" sz="1600" dirty="0"/>
              <a:t>특정 장소 조회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pPr lvl="1"/>
            <a:r>
              <a:rPr lang="en-US" altLang="ko-KR" sz="1400" dirty="0"/>
              <a:t>id, name, type(</a:t>
            </a:r>
            <a:r>
              <a:rPr lang="ko-KR" altLang="en-US" sz="1400" dirty="0" err="1"/>
              <a:t>입고처</a:t>
            </a:r>
            <a:r>
              <a:rPr lang="en-US" altLang="ko-KR" sz="1400" dirty="0"/>
              <a:t>/</a:t>
            </a:r>
            <a:r>
              <a:rPr lang="ko-KR" altLang="en-US" sz="1400" dirty="0"/>
              <a:t>출고처</a:t>
            </a:r>
            <a:r>
              <a:rPr lang="en-US" altLang="ko-KR" sz="1400" dirty="0"/>
              <a:t>/</a:t>
            </a:r>
            <a:r>
              <a:rPr lang="ko-KR" altLang="en-US" sz="1400" dirty="0"/>
              <a:t>창고</a:t>
            </a:r>
            <a:r>
              <a:rPr lang="en-US" altLang="ko-KR" sz="1400" dirty="0"/>
              <a:t>), capacity(type:</a:t>
            </a:r>
            <a:r>
              <a:rPr lang="ko-KR" altLang="en-US" sz="1400" dirty="0"/>
              <a:t>창고 인 경우</a:t>
            </a:r>
            <a:r>
              <a:rPr lang="en-US" altLang="ko-KR" sz="1400" dirty="0"/>
              <a:t>,</a:t>
            </a:r>
            <a:r>
              <a:rPr lang="ko-KR" altLang="en-US" sz="1400" dirty="0"/>
              <a:t> 최대 용량</a:t>
            </a:r>
            <a:r>
              <a:rPr lang="en-US" altLang="ko-KR" sz="1400" dirty="0"/>
              <a:t>), current(type:</a:t>
            </a:r>
            <a:r>
              <a:rPr lang="ko-KR" altLang="en-US" sz="1400" dirty="0"/>
              <a:t>창고 인 경우</a:t>
            </a:r>
            <a:r>
              <a:rPr lang="en-US" altLang="ko-KR" sz="1400" dirty="0"/>
              <a:t>,</a:t>
            </a:r>
            <a:r>
              <a:rPr lang="ko-KR" altLang="en-US" sz="1400" dirty="0"/>
              <a:t> 현재 용량</a:t>
            </a:r>
            <a:r>
              <a:rPr lang="en-US" altLang="ko-KR" sz="1400" dirty="0"/>
              <a:t>), </a:t>
            </a:r>
            <a:r>
              <a:rPr lang="ko-KR" altLang="en-US" sz="1400" dirty="0"/>
              <a:t>해당 장소부터 시작하는 이동소요시간 정보 리스트</a:t>
            </a:r>
            <a:endParaRPr lang="en-US" altLang="ko-KR" sz="1400" dirty="0"/>
          </a:p>
          <a:p>
            <a:pPr lvl="2"/>
            <a:r>
              <a:rPr lang="ko-KR" altLang="en-US" sz="1100" dirty="0"/>
              <a:t>해당 장소부터 시작하는 이동소요시간 정보 리스트 </a:t>
            </a:r>
            <a:r>
              <a:rPr lang="en-US" altLang="ko-KR" sz="1100" dirty="0"/>
              <a:t>: </a:t>
            </a:r>
            <a:r>
              <a:rPr lang="en-US" altLang="ko-KR" sz="800" dirty="0"/>
              <a:t>id, </a:t>
            </a:r>
            <a:r>
              <a:rPr lang="en-US" altLang="ko-KR" sz="800" dirty="0" err="1"/>
              <a:t>fromLocationId</a:t>
            </a:r>
            <a:r>
              <a:rPr lang="en-US" altLang="ko-KR" sz="800" dirty="0"/>
              <a:t>, </a:t>
            </a:r>
            <a:r>
              <a:rPr lang="en-US" altLang="ko-KR" sz="800" dirty="0" err="1"/>
              <a:t>fromLocationName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toLocationId</a:t>
            </a:r>
            <a:r>
              <a:rPr lang="en-US" altLang="ko-KR" sz="800" dirty="0"/>
              <a:t>, </a:t>
            </a:r>
            <a:r>
              <a:rPr lang="en-US" altLang="ko-KR" sz="800" dirty="0" err="1"/>
              <a:t>toLocationName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estimatedDuration</a:t>
            </a:r>
            <a:r>
              <a:rPr lang="en-US" altLang="ko-KR" sz="800" dirty="0"/>
              <a:t>(</a:t>
            </a:r>
            <a:r>
              <a:rPr lang="ko-KR" altLang="en-US" sz="800" dirty="0"/>
              <a:t>소요예정시간</a:t>
            </a:r>
            <a:r>
              <a:rPr lang="en-US" altLang="ko-KR" sz="800" dirty="0"/>
              <a:t>)</a:t>
            </a:r>
          </a:p>
          <a:p>
            <a:r>
              <a:rPr lang="ko-KR" altLang="en-US" sz="1600" dirty="0"/>
              <a:t>전체 장소 리스트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pPr lvl="1"/>
            <a:r>
              <a:rPr lang="en-US" altLang="ko-KR" sz="1200" dirty="0"/>
              <a:t>GUI</a:t>
            </a:r>
            <a:r>
              <a:rPr lang="ko-KR" altLang="en-US" sz="1200" dirty="0"/>
              <a:t>로 전체 장소 목록을 표시하기 위한 리스트 </a:t>
            </a:r>
            <a:endParaRPr lang="en-US" altLang="ko-KR" sz="1200" dirty="0"/>
          </a:p>
          <a:p>
            <a:pPr lvl="2"/>
            <a:r>
              <a:rPr lang="en-US" altLang="ko-KR" sz="800" dirty="0"/>
              <a:t>[{id, name, x</a:t>
            </a:r>
            <a:r>
              <a:rPr lang="ko-KR" altLang="en-US" sz="800" dirty="0"/>
              <a:t>좌표</a:t>
            </a:r>
            <a:r>
              <a:rPr lang="en-US" altLang="ko-KR" sz="800" dirty="0"/>
              <a:t>, y</a:t>
            </a:r>
            <a:r>
              <a:rPr lang="ko-KR" altLang="en-US" sz="800" dirty="0"/>
              <a:t>좌표</a:t>
            </a:r>
            <a:r>
              <a:rPr lang="en-US" altLang="ko-KR" sz="800" dirty="0"/>
              <a:t> (</a:t>
            </a:r>
            <a:r>
              <a:rPr lang="ko-KR" altLang="en-US" sz="800" dirty="0"/>
              <a:t>장소 팔레트 상 장소요소의 위치좌표</a:t>
            </a:r>
            <a:r>
              <a:rPr lang="en-US" altLang="ko-KR" sz="800" dirty="0"/>
              <a:t>), type}, ….]</a:t>
            </a:r>
          </a:p>
          <a:p>
            <a:r>
              <a:rPr lang="ko-KR" altLang="en-US" sz="1600" dirty="0"/>
              <a:t>장소 생성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 수정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 삭제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장소들의 팔레트</a:t>
            </a:r>
            <a:r>
              <a:rPr lang="en-US" altLang="ko-KR" sz="1600" dirty="0"/>
              <a:t>_</a:t>
            </a:r>
            <a:r>
              <a:rPr lang="ko-KR" altLang="en-US" sz="1600" dirty="0"/>
              <a:t>좌표 수정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 </a:t>
            </a:r>
          </a:p>
          <a:p>
            <a:pPr lvl="1"/>
            <a:r>
              <a:rPr lang="ko-KR" altLang="en-US" sz="1200" dirty="0"/>
              <a:t>팔레트에서 각 장소 요소 위치 변경하고 </a:t>
            </a:r>
            <a:r>
              <a:rPr lang="en-US" altLang="ko-KR" sz="1200" dirty="0"/>
              <a:t>&lt;</a:t>
            </a:r>
            <a:r>
              <a:rPr lang="ko-KR" altLang="en-US" sz="1200" dirty="0"/>
              <a:t>위치저장</a:t>
            </a:r>
            <a:r>
              <a:rPr lang="en-US" altLang="ko-KR" sz="1200" dirty="0"/>
              <a:t>&gt; </a:t>
            </a:r>
            <a:r>
              <a:rPr lang="ko-KR" altLang="en-US" sz="1200" dirty="0"/>
              <a:t>누르면 좌표만 </a:t>
            </a:r>
            <a:r>
              <a:rPr lang="ko-KR" altLang="en-US" sz="1200" dirty="0" err="1"/>
              <a:t>벌크</a:t>
            </a:r>
            <a:r>
              <a:rPr lang="ko-KR" altLang="en-US" sz="1200" dirty="0"/>
              <a:t> 업데이트</a:t>
            </a:r>
            <a:endParaRPr lang="en-US" altLang="ko-KR" sz="1200" dirty="0"/>
          </a:p>
          <a:p>
            <a:pPr lvl="1"/>
            <a:r>
              <a:rPr lang="ko-KR" altLang="en-US" sz="1200" dirty="0"/>
              <a:t>장소 수정</a:t>
            </a:r>
            <a:r>
              <a:rPr lang="en-US" altLang="ko-KR" sz="1200" dirty="0" err="1"/>
              <a:t>api</a:t>
            </a:r>
            <a:r>
              <a:rPr lang="ko-KR" altLang="en-US" sz="1200" dirty="0"/>
              <a:t>와 합쳐질 수 있지만 책임분리 차 따로 </a:t>
            </a:r>
            <a:endParaRPr lang="en-US" altLang="ko-KR" sz="1200" dirty="0"/>
          </a:p>
          <a:p>
            <a:r>
              <a:rPr lang="ko-KR" altLang="en-US" sz="1600" dirty="0"/>
              <a:t>특정 이동소요시간 생성</a:t>
            </a:r>
            <a:r>
              <a:rPr lang="en-US" altLang="ko-KR" sz="1600" dirty="0"/>
              <a:t>(</a:t>
            </a:r>
            <a:r>
              <a:rPr lang="ko-KR" altLang="en-US" sz="1600" dirty="0"/>
              <a:t>무조건 시작 장소의 </a:t>
            </a:r>
            <a:r>
              <a:rPr lang="en-US" altLang="ko-KR" sz="1600" dirty="0"/>
              <a:t>child)</a:t>
            </a:r>
            <a:r>
              <a:rPr lang="ko-KR" altLang="en-US" sz="1600" dirty="0"/>
              <a:t>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특정 이동소요시간 수정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특정 이동소요시간 삭제 </a:t>
            </a:r>
            <a:r>
              <a:rPr lang="en-US" altLang="ko-KR" sz="1600" dirty="0" err="1"/>
              <a:t>api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67867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8052D8-BC6C-EA1E-2A3E-52B7D759D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136188"/>
              </p:ext>
            </p:extLst>
          </p:nvPr>
        </p:nvGraphicFramePr>
        <p:xfrm>
          <a:off x="950976" y="719666"/>
          <a:ext cx="1029980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634">
                  <a:extLst>
                    <a:ext uri="{9D8B030D-6E8A-4147-A177-3AD203B41FA5}">
                      <a16:colId xmlns:a16="http://schemas.microsoft.com/office/drawing/2014/main" val="2536733615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2531240296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1856557795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2340567878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1034251829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79301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어제 총 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오늘 총 입고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오늘 총 출고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현재 총 재고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08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경찬님빤스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056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내빤스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19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컴퓨터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9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제로콜라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식음료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91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89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40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249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3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935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2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710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9A9054-2400-D0E5-9086-99396AC6CF59}"/>
              </a:ext>
            </a:extLst>
          </p:cNvPr>
          <p:cNvSpPr txBox="1"/>
          <p:nvPr/>
        </p:nvSpPr>
        <p:spPr>
          <a:xfrm>
            <a:off x="10365639" y="5669365"/>
            <a:ext cx="104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새 물품</a:t>
            </a:r>
          </a:p>
        </p:txBody>
      </p:sp>
      <p:sp>
        <p:nvSpPr>
          <p:cNvPr id="11" name="실행 단추: 앞으로 또는 다음으로 이동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078B5E0-097B-A6FC-691F-C73149E7B29C}"/>
              </a:ext>
            </a:extLst>
          </p:cNvPr>
          <p:cNvSpPr/>
          <p:nvPr/>
        </p:nvSpPr>
        <p:spPr>
          <a:xfrm>
            <a:off x="5976518" y="5764378"/>
            <a:ext cx="563271" cy="4901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00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A9040-ABB6-114A-8444-DBA9FC05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069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api</a:t>
            </a:r>
            <a:r>
              <a:rPr lang="en-US" altLang="ko-KR" dirty="0"/>
              <a:t> list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0283F6-6EA4-21C4-4DEE-0492C6029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498"/>
            <a:ext cx="10515600" cy="5167465"/>
          </a:xfrm>
        </p:spPr>
        <p:txBody>
          <a:bodyPr/>
          <a:lstStyle/>
          <a:p>
            <a:r>
              <a:rPr lang="ko-KR" altLang="en-US" sz="1600" dirty="0"/>
              <a:t>특정 물품 조회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pPr lvl="1"/>
            <a:r>
              <a:rPr lang="en-US" altLang="ko-KR" sz="1400" dirty="0"/>
              <a:t>id, name, type(</a:t>
            </a:r>
            <a:r>
              <a:rPr lang="ko-KR" altLang="en-US" sz="1400" dirty="0" err="1"/>
              <a:t>입고처</a:t>
            </a:r>
            <a:r>
              <a:rPr lang="en-US" altLang="ko-KR" sz="1400" dirty="0"/>
              <a:t>/</a:t>
            </a:r>
            <a:r>
              <a:rPr lang="ko-KR" altLang="en-US" sz="1400" dirty="0"/>
              <a:t>출고처</a:t>
            </a:r>
            <a:r>
              <a:rPr lang="en-US" altLang="ko-KR" sz="1400" dirty="0"/>
              <a:t>/</a:t>
            </a:r>
            <a:r>
              <a:rPr lang="ko-KR" altLang="en-US" sz="1400" dirty="0"/>
              <a:t>창고</a:t>
            </a:r>
            <a:r>
              <a:rPr lang="en-US" altLang="ko-KR" sz="1400" dirty="0"/>
              <a:t>), capacity(type:</a:t>
            </a:r>
            <a:r>
              <a:rPr lang="ko-KR" altLang="en-US" sz="1400" dirty="0"/>
              <a:t>창고 인 경우</a:t>
            </a:r>
            <a:r>
              <a:rPr lang="en-US" altLang="ko-KR" sz="1400" dirty="0"/>
              <a:t>,</a:t>
            </a:r>
            <a:r>
              <a:rPr lang="ko-KR" altLang="en-US" sz="1400" dirty="0"/>
              <a:t> 최대 용량</a:t>
            </a:r>
            <a:r>
              <a:rPr lang="en-US" altLang="ko-KR" sz="1400" dirty="0"/>
              <a:t>), current(type:</a:t>
            </a:r>
            <a:r>
              <a:rPr lang="ko-KR" altLang="en-US" sz="1400" dirty="0"/>
              <a:t>창고 인 경우</a:t>
            </a:r>
            <a:r>
              <a:rPr lang="en-US" altLang="ko-KR" sz="1400" dirty="0"/>
              <a:t>,</a:t>
            </a:r>
            <a:r>
              <a:rPr lang="ko-KR" altLang="en-US" sz="1400" dirty="0"/>
              <a:t> 현재 용량</a:t>
            </a:r>
            <a:r>
              <a:rPr lang="en-US" altLang="ko-KR" sz="1400" dirty="0"/>
              <a:t>), </a:t>
            </a:r>
            <a:r>
              <a:rPr lang="ko-KR" altLang="en-US" sz="1400" dirty="0"/>
              <a:t>해당 장소부터 시작하는 이동소요시간 정보 리스트</a:t>
            </a:r>
            <a:endParaRPr lang="en-US" altLang="ko-KR" sz="1400" dirty="0"/>
          </a:p>
          <a:p>
            <a:pPr lvl="2"/>
            <a:r>
              <a:rPr lang="ko-KR" altLang="en-US" sz="1100" dirty="0"/>
              <a:t>해당 장소부터 시작하는 이동소요시간 정보 리스트 </a:t>
            </a:r>
            <a:r>
              <a:rPr lang="en-US" altLang="ko-KR" sz="1100" dirty="0"/>
              <a:t>: </a:t>
            </a:r>
            <a:r>
              <a:rPr lang="en-US" altLang="ko-KR" sz="800" dirty="0"/>
              <a:t>id, </a:t>
            </a:r>
            <a:r>
              <a:rPr lang="en-US" altLang="ko-KR" sz="800" dirty="0" err="1"/>
              <a:t>fromLocationId</a:t>
            </a:r>
            <a:r>
              <a:rPr lang="en-US" altLang="ko-KR" sz="800" dirty="0"/>
              <a:t>, </a:t>
            </a:r>
            <a:r>
              <a:rPr lang="en-US" altLang="ko-KR" sz="800" dirty="0" err="1"/>
              <a:t>fromLocationName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toLocationId</a:t>
            </a:r>
            <a:r>
              <a:rPr lang="en-US" altLang="ko-KR" sz="800" dirty="0"/>
              <a:t>, </a:t>
            </a:r>
            <a:r>
              <a:rPr lang="en-US" altLang="ko-KR" sz="800" dirty="0" err="1"/>
              <a:t>toLocationName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estimatedDuration</a:t>
            </a:r>
            <a:r>
              <a:rPr lang="en-US" altLang="ko-KR" sz="800" dirty="0"/>
              <a:t>(</a:t>
            </a:r>
            <a:r>
              <a:rPr lang="ko-KR" altLang="en-US" sz="800" dirty="0"/>
              <a:t>소요예정시간</a:t>
            </a:r>
            <a:r>
              <a:rPr lang="en-US" altLang="ko-KR" sz="800" dirty="0"/>
              <a:t>)</a:t>
            </a:r>
          </a:p>
          <a:p>
            <a:r>
              <a:rPr lang="ko-KR" altLang="en-US" sz="1600" dirty="0"/>
              <a:t>전체 장소 리스트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pPr lvl="1"/>
            <a:r>
              <a:rPr lang="en-US" altLang="ko-KR" sz="1200" dirty="0"/>
              <a:t>GUI</a:t>
            </a:r>
            <a:r>
              <a:rPr lang="ko-KR" altLang="en-US" sz="1200" dirty="0"/>
              <a:t>로 전체 장소 목록을 표시하기 위한 리스트 </a:t>
            </a:r>
            <a:endParaRPr lang="en-US" altLang="ko-KR" sz="1200" dirty="0"/>
          </a:p>
          <a:p>
            <a:pPr lvl="2"/>
            <a:r>
              <a:rPr lang="en-US" altLang="ko-KR" sz="800" dirty="0"/>
              <a:t>[{id, name, x</a:t>
            </a:r>
            <a:r>
              <a:rPr lang="ko-KR" altLang="en-US" sz="800" dirty="0"/>
              <a:t>좌표</a:t>
            </a:r>
            <a:r>
              <a:rPr lang="en-US" altLang="ko-KR" sz="800" dirty="0"/>
              <a:t>, y</a:t>
            </a:r>
            <a:r>
              <a:rPr lang="ko-KR" altLang="en-US" sz="800" dirty="0"/>
              <a:t>좌표</a:t>
            </a:r>
            <a:r>
              <a:rPr lang="en-US" altLang="ko-KR" sz="800" dirty="0"/>
              <a:t> (</a:t>
            </a:r>
            <a:r>
              <a:rPr lang="ko-KR" altLang="en-US" sz="800" dirty="0"/>
              <a:t>장소 팔레트 상 장소요소의 위치좌표</a:t>
            </a:r>
            <a:r>
              <a:rPr lang="en-US" altLang="ko-KR" sz="800" dirty="0"/>
              <a:t>), type}, ….]</a:t>
            </a:r>
          </a:p>
          <a:p>
            <a:r>
              <a:rPr lang="ko-KR" altLang="en-US" sz="1600" dirty="0"/>
              <a:t>장소 생성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 수정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 삭제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장소들의 팔레트</a:t>
            </a:r>
            <a:r>
              <a:rPr lang="en-US" altLang="ko-KR" sz="1600" dirty="0"/>
              <a:t>_</a:t>
            </a:r>
            <a:r>
              <a:rPr lang="ko-KR" altLang="en-US" sz="1600" dirty="0"/>
              <a:t>좌표 수정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 </a:t>
            </a:r>
          </a:p>
          <a:p>
            <a:pPr lvl="1"/>
            <a:r>
              <a:rPr lang="ko-KR" altLang="en-US" sz="1200" dirty="0"/>
              <a:t>팔레트에서 각 장소 요소 위치 변경하고 </a:t>
            </a:r>
            <a:r>
              <a:rPr lang="en-US" altLang="ko-KR" sz="1200" dirty="0"/>
              <a:t>&lt;</a:t>
            </a:r>
            <a:r>
              <a:rPr lang="ko-KR" altLang="en-US" sz="1200" dirty="0"/>
              <a:t>위치저장</a:t>
            </a:r>
            <a:r>
              <a:rPr lang="en-US" altLang="ko-KR" sz="1200" dirty="0"/>
              <a:t>&gt; </a:t>
            </a:r>
            <a:r>
              <a:rPr lang="ko-KR" altLang="en-US" sz="1200" dirty="0"/>
              <a:t>누르면 좌표만 </a:t>
            </a:r>
            <a:r>
              <a:rPr lang="ko-KR" altLang="en-US" sz="1200" dirty="0" err="1"/>
              <a:t>벌크</a:t>
            </a:r>
            <a:r>
              <a:rPr lang="ko-KR" altLang="en-US" sz="1200" dirty="0"/>
              <a:t> 업데이트</a:t>
            </a:r>
            <a:endParaRPr lang="en-US" altLang="ko-KR" sz="1200" dirty="0"/>
          </a:p>
          <a:p>
            <a:pPr lvl="1"/>
            <a:r>
              <a:rPr lang="ko-KR" altLang="en-US" sz="1200" dirty="0"/>
              <a:t>장소 수정</a:t>
            </a:r>
            <a:r>
              <a:rPr lang="en-US" altLang="ko-KR" sz="1200" dirty="0" err="1"/>
              <a:t>api</a:t>
            </a:r>
            <a:r>
              <a:rPr lang="ko-KR" altLang="en-US" sz="1200" dirty="0"/>
              <a:t>와 합쳐질 수 있지만 책임분리 차 따로 </a:t>
            </a:r>
            <a:endParaRPr lang="en-US" altLang="ko-KR" sz="1200" dirty="0"/>
          </a:p>
          <a:p>
            <a:r>
              <a:rPr lang="ko-KR" altLang="en-US" sz="1600" dirty="0"/>
              <a:t>특정 이동소요시간 생성</a:t>
            </a:r>
            <a:r>
              <a:rPr lang="en-US" altLang="ko-KR" sz="1600" dirty="0"/>
              <a:t>(</a:t>
            </a:r>
            <a:r>
              <a:rPr lang="ko-KR" altLang="en-US" sz="1600" dirty="0"/>
              <a:t>무조건 시작 장소의 </a:t>
            </a:r>
            <a:r>
              <a:rPr lang="en-US" altLang="ko-KR" sz="1600" dirty="0"/>
              <a:t>child)</a:t>
            </a:r>
            <a:r>
              <a:rPr lang="ko-KR" altLang="en-US" sz="1600" dirty="0"/>
              <a:t>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특정 이동소요시간 수정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특정 이동소요시간 삭제 </a:t>
            </a:r>
            <a:r>
              <a:rPr lang="en-US" altLang="ko-KR" sz="1600" dirty="0" err="1"/>
              <a:t>api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37877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3DF6D35A-F073-3AE1-E68B-C68F175D1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767153" y="680313"/>
            <a:ext cx="1498115" cy="1613354"/>
          </a:xfrm>
          <a:prstGeom prst="rect">
            <a:avLst/>
          </a:prstGeom>
        </p:spPr>
      </p:pic>
      <p:pic>
        <p:nvPicPr>
          <p:cNvPr id="4" name="그림 3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84971490-8631-4F07-0F70-8D6BAC8CB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72989" y="1736742"/>
            <a:ext cx="1498115" cy="1613354"/>
          </a:xfrm>
          <a:prstGeom prst="rect">
            <a:avLst/>
          </a:prstGeom>
        </p:spPr>
      </p:pic>
      <p:pic>
        <p:nvPicPr>
          <p:cNvPr id="8" name="그림 7" descr="스케치, 디자인, 도표, 폰트이(가) 표시된 사진&#10;&#10;자동 생성된 설명">
            <a:extLst>
              <a:ext uri="{FF2B5EF4-FFF2-40B4-BE49-F238E27FC236}">
                <a16:creationId xmlns:a16="http://schemas.microsoft.com/office/drawing/2014/main" id="{AB6ED227-471A-0E11-A466-7AFC204AB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767153" y="2950802"/>
            <a:ext cx="1498115" cy="16133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AE1A46-1484-0008-CCBB-357F2E155B12}"/>
              </a:ext>
            </a:extLst>
          </p:cNvPr>
          <p:cNvSpPr txBox="1"/>
          <p:nvPr/>
        </p:nvSpPr>
        <p:spPr>
          <a:xfrm>
            <a:off x="4190466" y="834201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B2014-DFDB-6B34-C6A0-295EEFB95A2F}"/>
              </a:ext>
            </a:extLst>
          </p:cNvPr>
          <p:cNvSpPr txBox="1"/>
          <p:nvPr/>
        </p:nvSpPr>
        <p:spPr>
          <a:xfrm>
            <a:off x="7096250" y="1843653"/>
            <a:ext cx="651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D1EE2-D52D-222C-CE70-2760D505CB8B}"/>
              </a:ext>
            </a:extLst>
          </p:cNvPr>
          <p:cNvSpPr txBox="1"/>
          <p:nvPr/>
        </p:nvSpPr>
        <p:spPr>
          <a:xfrm>
            <a:off x="4251208" y="3000587"/>
            <a:ext cx="651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창고</a:t>
            </a:r>
            <a:r>
              <a:rPr lang="en-US" altLang="ko-KR" sz="1000" dirty="0"/>
              <a:t>C</a:t>
            </a:r>
          </a:p>
          <a:p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701AE5-E42F-FDF4-32B5-9DA6B4AD1117}"/>
              </a:ext>
            </a:extLst>
          </p:cNvPr>
          <p:cNvSpPr txBox="1"/>
          <p:nvPr/>
        </p:nvSpPr>
        <p:spPr>
          <a:xfrm>
            <a:off x="5471769" y="1302324"/>
            <a:ext cx="195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490/500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2C483-45D5-67F0-4E44-669B9C3FBA98}"/>
              </a:ext>
            </a:extLst>
          </p:cNvPr>
          <p:cNvSpPr txBox="1"/>
          <p:nvPr/>
        </p:nvSpPr>
        <p:spPr>
          <a:xfrm>
            <a:off x="5334231" y="3627673"/>
            <a:ext cx="195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100/1500</a:t>
            </a:r>
            <a:endParaRPr lang="ko-KR" alt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4254FF-4CAF-0003-77E2-EE275B8083FB}"/>
              </a:ext>
            </a:extLst>
          </p:cNvPr>
          <p:cNvSpPr txBox="1"/>
          <p:nvPr/>
        </p:nvSpPr>
        <p:spPr>
          <a:xfrm>
            <a:off x="8213269" y="2358753"/>
            <a:ext cx="195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400/1000</a:t>
            </a:r>
            <a:endParaRPr lang="ko-KR" alt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00C17E8F-0600-3033-C72C-3E1DE631C0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096250" y="2543419"/>
            <a:ext cx="758753" cy="7587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36B758-6C90-D2E4-BE14-0FB921E5B460}"/>
              </a:ext>
            </a:extLst>
          </p:cNvPr>
          <p:cNvSpPr txBox="1"/>
          <p:nvPr/>
        </p:nvSpPr>
        <p:spPr>
          <a:xfrm>
            <a:off x="7584812" y="2939032"/>
            <a:ext cx="1450004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상세</a:t>
            </a:r>
            <a:endParaRPr lang="en-US" altLang="ko-KR" dirty="0"/>
          </a:p>
          <a:p>
            <a:r>
              <a:rPr lang="ko-KR" altLang="en-US" dirty="0"/>
              <a:t>삭제</a:t>
            </a:r>
            <a:endParaRPr lang="en-US" altLang="ko-KR" dirty="0"/>
          </a:p>
          <a:p>
            <a:r>
              <a:rPr lang="ko-KR" altLang="en-US" dirty="0"/>
              <a:t>그래프추가</a:t>
            </a:r>
            <a:endParaRPr lang="en-US" altLang="ko-KR" dirty="0"/>
          </a:p>
          <a:p>
            <a:r>
              <a:rPr lang="ko-KR" altLang="en-US" dirty="0"/>
              <a:t>상세 재고</a:t>
            </a:r>
          </a:p>
        </p:txBody>
      </p:sp>
    </p:spTree>
    <p:extLst>
      <p:ext uri="{BB962C8B-B14F-4D97-AF65-F5344CB8AC3E}">
        <p14:creationId xmlns:p14="http://schemas.microsoft.com/office/powerpoint/2010/main" val="2238054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AF97CFC-62C6-1A86-355B-FD1564396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023730"/>
              </p:ext>
            </p:extLst>
          </p:nvPr>
        </p:nvGraphicFramePr>
        <p:xfrm>
          <a:off x="2302663" y="1026904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515205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594435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48214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최대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용량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65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창고</a:t>
                      </a:r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23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창고</a:t>
                      </a:r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643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창고</a:t>
                      </a:r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65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01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52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8052D8-BC6C-EA1E-2A3E-52B7D759D96A}"/>
              </a:ext>
            </a:extLst>
          </p:cNvPr>
          <p:cNvGraphicFramePr>
            <a:graphicFrameLocks noGrp="1"/>
          </p:cNvGraphicFramePr>
          <p:nvPr/>
        </p:nvGraphicFramePr>
        <p:xfrm>
          <a:off x="950976" y="719666"/>
          <a:ext cx="1029980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634">
                  <a:extLst>
                    <a:ext uri="{9D8B030D-6E8A-4147-A177-3AD203B41FA5}">
                      <a16:colId xmlns:a16="http://schemas.microsoft.com/office/drawing/2014/main" val="2536733615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2531240296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1856557795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2340567878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1034251829"/>
                    </a:ext>
                  </a:extLst>
                </a:gridCol>
                <a:gridCol w="1716634">
                  <a:extLst>
                    <a:ext uri="{9D8B030D-6E8A-4147-A177-3AD203B41FA5}">
                      <a16:colId xmlns:a16="http://schemas.microsoft.com/office/drawing/2014/main" val="79301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어제 총 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오늘 총 입고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오늘 총 출고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현재 총 재고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08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경찬님빤스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056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내빤스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빤스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19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컴퓨터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전자제품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9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제로콜라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식음료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91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89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40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249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3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935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2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710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9A9054-2400-D0E5-9086-99396AC6CF59}"/>
              </a:ext>
            </a:extLst>
          </p:cNvPr>
          <p:cNvSpPr txBox="1"/>
          <p:nvPr/>
        </p:nvSpPr>
        <p:spPr>
          <a:xfrm>
            <a:off x="10365639" y="5669365"/>
            <a:ext cx="104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새 물품</a:t>
            </a:r>
          </a:p>
        </p:txBody>
      </p:sp>
      <p:sp>
        <p:nvSpPr>
          <p:cNvPr id="11" name="실행 단추: 앞으로 또는 다음으로 이동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078B5E0-097B-A6FC-691F-C73149E7B29C}"/>
              </a:ext>
            </a:extLst>
          </p:cNvPr>
          <p:cNvSpPr/>
          <p:nvPr/>
        </p:nvSpPr>
        <p:spPr>
          <a:xfrm>
            <a:off x="5976518" y="5764378"/>
            <a:ext cx="563271" cy="4901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27F5B-1691-ED16-3CF4-0F848551E127}"/>
              </a:ext>
            </a:extLst>
          </p:cNvPr>
          <p:cNvSpPr txBox="1"/>
          <p:nvPr/>
        </p:nvSpPr>
        <p:spPr>
          <a:xfrm>
            <a:off x="950976" y="221555"/>
            <a:ext cx="147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창고</a:t>
            </a:r>
            <a:r>
              <a:rPr lang="en-US" altLang="ko-KR" dirty="0"/>
              <a:t>A </a:t>
            </a:r>
            <a:r>
              <a:rPr lang="ko-KR" altLang="en-US" dirty="0"/>
              <a:t>현황</a:t>
            </a:r>
          </a:p>
        </p:txBody>
      </p:sp>
    </p:spTree>
    <p:extLst>
      <p:ext uri="{BB962C8B-B14F-4D97-AF65-F5344CB8AC3E}">
        <p14:creationId xmlns:p14="http://schemas.microsoft.com/office/powerpoint/2010/main" val="3563408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F5C3CF1-4B1F-0509-E87D-CBF8B8EF3E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59843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3406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A9040-ABB6-114A-8444-DBA9FC05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069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api</a:t>
            </a:r>
            <a:r>
              <a:rPr lang="en-US" altLang="ko-KR" dirty="0"/>
              <a:t> list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0283F6-6EA4-21C4-4DEE-0492C6029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498"/>
            <a:ext cx="10515600" cy="5167465"/>
          </a:xfrm>
        </p:spPr>
        <p:txBody>
          <a:bodyPr/>
          <a:lstStyle/>
          <a:p>
            <a:r>
              <a:rPr lang="ko-KR" altLang="en-US" sz="1600" dirty="0"/>
              <a:t>특정 물품 조회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pPr lvl="1"/>
            <a:r>
              <a:rPr lang="en-US" altLang="ko-KR" sz="1400" dirty="0"/>
              <a:t>id, name, type(</a:t>
            </a:r>
            <a:r>
              <a:rPr lang="ko-KR" altLang="en-US" sz="1400" dirty="0" err="1"/>
              <a:t>입고처</a:t>
            </a:r>
            <a:r>
              <a:rPr lang="en-US" altLang="ko-KR" sz="1400" dirty="0"/>
              <a:t>/</a:t>
            </a:r>
            <a:r>
              <a:rPr lang="ko-KR" altLang="en-US" sz="1400" dirty="0"/>
              <a:t>출고처</a:t>
            </a:r>
            <a:r>
              <a:rPr lang="en-US" altLang="ko-KR" sz="1400" dirty="0"/>
              <a:t>/</a:t>
            </a:r>
            <a:r>
              <a:rPr lang="ko-KR" altLang="en-US" sz="1400" dirty="0"/>
              <a:t>창고</a:t>
            </a:r>
            <a:r>
              <a:rPr lang="en-US" altLang="ko-KR" sz="1400" dirty="0"/>
              <a:t>), capacity(type:</a:t>
            </a:r>
            <a:r>
              <a:rPr lang="ko-KR" altLang="en-US" sz="1400" dirty="0"/>
              <a:t>창고 인 경우</a:t>
            </a:r>
            <a:r>
              <a:rPr lang="en-US" altLang="ko-KR" sz="1400" dirty="0"/>
              <a:t>,</a:t>
            </a:r>
            <a:r>
              <a:rPr lang="ko-KR" altLang="en-US" sz="1400" dirty="0"/>
              <a:t> 최대 용량</a:t>
            </a:r>
            <a:r>
              <a:rPr lang="en-US" altLang="ko-KR" sz="1400" dirty="0"/>
              <a:t>), current(type:</a:t>
            </a:r>
            <a:r>
              <a:rPr lang="ko-KR" altLang="en-US" sz="1400" dirty="0"/>
              <a:t>창고 인 경우</a:t>
            </a:r>
            <a:r>
              <a:rPr lang="en-US" altLang="ko-KR" sz="1400" dirty="0"/>
              <a:t>,</a:t>
            </a:r>
            <a:r>
              <a:rPr lang="ko-KR" altLang="en-US" sz="1400" dirty="0"/>
              <a:t> 현재 용량</a:t>
            </a:r>
            <a:r>
              <a:rPr lang="en-US" altLang="ko-KR" sz="1400" dirty="0"/>
              <a:t>), </a:t>
            </a:r>
            <a:r>
              <a:rPr lang="ko-KR" altLang="en-US" sz="1400" dirty="0"/>
              <a:t>해당 장소부터 시작하는 이동소요시간 정보 리스트</a:t>
            </a:r>
            <a:endParaRPr lang="en-US" altLang="ko-KR" sz="1400" dirty="0"/>
          </a:p>
          <a:p>
            <a:pPr lvl="2"/>
            <a:r>
              <a:rPr lang="ko-KR" altLang="en-US" sz="1100" dirty="0"/>
              <a:t>해당 장소부터 시작하는 이동소요시간 정보 리스트 </a:t>
            </a:r>
            <a:r>
              <a:rPr lang="en-US" altLang="ko-KR" sz="1100" dirty="0"/>
              <a:t>: </a:t>
            </a:r>
            <a:r>
              <a:rPr lang="en-US" altLang="ko-KR" sz="800" dirty="0"/>
              <a:t>id, </a:t>
            </a:r>
            <a:r>
              <a:rPr lang="en-US" altLang="ko-KR" sz="800" dirty="0" err="1"/>
              <a:t>fromLocationId</a:t>
            </a:r>
            <a:r>
              <a:rPr lang="en-US" altLang="ko-KR" sz="800" dirty="0"/>
              <a:t>, </a:t>
            </a:r>
            <a:r>
              <a:rPr lang="en-US" altLang="ko-KR" sz="800" dirty="0" err="1"/>
              <a:t>fromLocationName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toLocationId</a:t>
            </a:r>
            <a:r>
              <a:rPr lang="en-US" altLang="ko-KR" sz="800" dirty="0"/>
              <a:t>, </a:t>
            </a:r>
            <a:r>
              <a:rPr lang="en-US" altLang="ko-KR" sz="800" dirty="0" err="1"/>
              <a:t>toLocationName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estimatedDuration</a:t>
            </a:r>
            <a:r>
              <a:rPr lang="en-US" altLang="ko-KR" sz="800" dirty="0"/>
              <a:t>(</a:t>
            </a:r>
            <a:r>
              <a:rPr lang="ko-KR" altLang="en-US" sz="800" dirty="0"/>
              <a:t>소요예정시간</a:t>
            </a:r>
            <a:r>
              <a:rPr lang="en-US" altLang="ko-KR" sz="800" dirty="0"/>
              <a:t>)</a:t>
            </a:r>
          </a:p>
          <a:p>
            <a:r>
              <a:rPr lang="ko-KR" altLang="en-US" sz="1600" dirty="0"/>
              <a:t>전체 장소 리스트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pPr lvl="1"/>
            <a:r>
              <a:rPr lang="en-US" altLang="ko-KR" sz="1200" dirty="0"/>
              <a:t>GUI</a:t>
            </a:r>
            <a:r>
              <a:rPr lang="ko-KR" altLang="en-US" sz="1200" dirty="0"/>
              <a:t>로 전체 장소 목록을 표시하기 위한 리스트 </a:t>
            </a:r>
            <a:endParaRPr lang="en-US" altLang="ko-KR" sz="1200" dirty="0"/>
          </a:p>
          <a:p>
            <a:pPr lvl="2"/>
            <a:r>
              <a:rPr lang="en-US" altLang="ko-KR" sz="800" dirty="0"/>
              <a:t>[{id, name, x</a:t>
            </a:r>
            <a:r>
              <a:rPr lang="ko-KR" altLang="en-US" sz="800" dirty="0"/>
              <a:t>좌표</a:t>
            </a:r>
            <a:r>
              <a:rPr lang="en-US" altLang="ko-KR" sz="800" dirty="0"/>
              <a:t>, y</a:t>
            </a:r>
            <a:r>
              <a:rPr lang="ko-KR" altLang="en-US" sz="800" dirty="0"/>
              <a:t>좌표</a:t>
            </a:r>
            <a:r>
              <a:rPr lang="en-US" altLang="ko-KR" sz="800" dirty="0"/>
              <a:t> (</a:t>
            </a:r>
            <a:r>
              <a:rPr lang="ko-KR" altLang="en-US" sz="800" dirty="0"/>
              <a:t>장소 팔레트 상 장소요소의 위치좌표</a:t>
            </a:r>
            <a:r>
              <a:rPr lang="en-US" altLang="ko-KR" sz="800" dirty="0"/>
              <a:t>), type}, ….]</a:t>
            </a:r>
          </a:p>
          <a:p>
            <a:r>
              <a:rPr lang="ko-KR" altLang="en-US" sz="1600" dirty="0"/>
              <a:t>장소 생성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 수정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 삭제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장소들의 팔레트</a:t>
            </a:r>
            <a:r>
              <a:rPr lang="en-US" altLang="ko-KR" sz="1600" dirty="0"/>
              <a:t>_</a:t>
            </a:r>
            <a:r>
              <a:rPr lang="ko-KR" altLang="en-US" sz="1600" dirty="0"/>
              <a:t>좌표 수정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 </a:t>
            </a:r>
          </a:p>
          <a:p>
            <a:pPr lvl="1"/>
            <a:r>
              <a:rPr lang="ko-KR" altLang="en-US" sz="1200" dirty="0"/>
              <a:t>팔레트에서 각 장소 요소 위치 변경하고 </a:t>
            </a:r>
            <a:r>
              <a:rPr lang="en-US" altLang="ko-KR" sz="1200" dirty="0"/>
              <a:t>&lt;</a:t>
            </a:r>
            <a:r>
              <a:rPr lang="ko-KR" altLang="en-US" sz="1200" dirty="0"/>
              <a:t>위치저장</a:t>
            </a:r>
            <a:r>
              <a:rPr lang="en-US" altLang="ko-KR" sz="1200" dirty="0"/>
              <a:t>&gt; </a:t>
            </a:r>
            <a:r>
              <a:rPr lang="ko-KR" altLang="en-US" sz="1200" dirty="0"/>
              <a:t>누르면 좌표만 </a:t>
            </a:r>
            <a:r>
              <a:rPr lang="ko-KR" altLang="en-US" sz="1200" dirty="0" err="1"/>
              <a:t>벌크</a:t>
            </a:r>
            <a:r>
              <a:rPr lang="ko-KR" altLang="en-US" sz="1200" dirty="0"/>
              <a:t> 업데이트</a:t>
            </a:r>
            <a:endParaRPr lang="en-US" altLang="ko-KR" sz="1200" dirty="0"/>
          </a:p>
          <a:p>
            <a:pPr lvl="1"/>
            <a:r>
              <a:rPr lang="ko-KR" altLang="en-US" sz="1200" dirty="0"/>
              <a:t>장소 수정</a:t>
            </a:r>
            <a:r>
              <a:rPr lang="en-US" altLang="ko-KR" sz="1200" dirty="0" err="1"/>
              <a:t>api</a:t>
            </a:r>
            <a:r>
              <a:rPr lang="ko-KR" altLang="en-US" sz="1200" dirty="0"/>
              <a:t>와 합쳐질 수 있지만 책임분리 차 따로 </a:t>
            </a:r>
            <a:endParaRPr lang="en-US" altLang="ko-KR" sz="1200" dirty="0"/>
          </a:p>
          <a:p>
            <a:r>
              <a:rPr lang="ko-KR" altLang="en-US" sz="1600" dirty="0"/>
              <a:t>특정 이동소요시간 생성</a:t>
            </a:r>
            <a:r>
              <a:rPr lang="en-US" altLang="ko-KR" sz="1600" dirty="0"/>
              <a:t>(</a:t>
            </a:r>
            <a:r>
              <a:rPr lang="ko-KR" altLang="en-US" sz="1600" dirty="0"/>
              <a:t>무조건 시작 장소의 </a:t>
            </a:r>
            <a:r>
              <a:rPr lang="en-US" altLang="ko-KR" sz="1600" dirty="0"/>
              <a:t>child)</a:t>
            </a:r>
            <a:r>
              <a:rPr lang="ko-KR" altLang="en-US" sz="1600" dirty="0"/>
              <a:t>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특정 이동소요시간 수정 </a:t>
            </a:r>
            <a:r>
              <a:rPr lang="en-US" altLang="ko-KR" sz="1600" dirty="0" err="1"/>
              <a:t>api</a:t>
            </a:r>
            <a:endParaRPr lang="en-US" altLang="ko-KR" sz="1600" dirty="0"/>
          </a:p>
          <a:p>
            <a:r>
              <a:rPr lang="ko-KR" altLang="en-US" sz="1600" dirty="0"/>
              <a:t>특정 이동소요시간 삭제 </a:t>
            </a:r>
            <a:r>
              <a:rPr lang="en-US" altLang="ko-KR" sz="1600" dirty="0" err="1"/>
              <a:t>api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20318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1029</Words>
  <Application>Microsoft Office PowerPoint</Application>
  <PresentationFormat>와이드스크린</PresentationFormat>
  <Paragraphs>248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api list</vt:lpstr>
      <vt:lpstr>PowerPoint 프레젠테이션</vt:lpstr>
      <vt:lpstr>api list</vt:lpstr>
      <vt:lpstr>PowerPoint 프레젠테이션</vt:lpstr>
      <vt:lpstr>PowerPoint 프레젠테이션</vt:lpstr>
      <vt:lpstr>PowerPoint 프레젠테이션</vt:lpstr>
      <vt:lpstr>PowerPoint 프레젠테이션</vt:lpstr>
      <vt:lpstr>api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KH BECK</dc:creator>
  <cp:lastModifiedBy>KH BECK</cp:lastModifiedBy>
  <cp:revision>1</cp:revision>
  <dcterms:created xsi:type="dcterms:W3CDTF">2025-06-18T03:28:11Z</dcterms:created>
  <dcterms:modified xsi:type="dcterms:W3CDTF">2025-06-18T07:13:50Z</dcterms:modified>
</cp:coreProperties>
</file>